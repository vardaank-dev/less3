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Bernoru" panose="020B0604020202020204" charset="0"/>
      <p:regular r:id="rId17"/>
    </p:embeddedFont>
    <p:embeddedFont>
      <p:font typeface="Black Ops One" panose="020B0604020202020204" charset="0"/>
      <p:regular r:id="rId18"/>
    </p:embeddedFont>
    <p:embeddedFont>
      <p:font typeface="Celandine" panose="020B0604020202020204" charset="0"/>
      <p:regular r:id="rId19"/>
    </p:embeddedFont>
    <p:embeddedFont>
      <p:font typeface="League Spartan" panose="020B0604020202020204" charset="0"/>
      <p:regular r:id="rId20"/>
    </p:embeddedFont>
    <p:embeddedFont>
      <p:font typeface="More Sugar" panose="020B0604020202020204" charset="0"/>
      <p:regular r:id="rId21"/>
    </p:embeddedFont>
    <p:embeddedFont>
      <p:font typeface="Obra Letra" panose="020B0604020202020204" charset="0"/>
      <p:regular r:id="rId22"/>
    </p:embeddedFont>
    <p:embeddedFont>
      <p:font typeface="Roboto Mono Bold" panose="020B0604020202020204" charset="0"/>
      <p:regular r:id="rId23"/>
    </p:embeddedFont>
    <p:embeddedFont>
      <p:font typeface="Sprite Graffiti"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31.03.2026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Renewable Energy Mix: Dr. Kalam proposed a robust blend of renewable sources, including solar power, wind energy, tidal, geothermal, and bio-fuels, to secure India's energy future.</a:t>
            </a:r>
          </a:p>
          <a:p>
            <a:endParaRPr lang="en-US"/>
          </a:p>
          <a:p>
            <a:r>
              <a:rPr lang="en-US"/>
              <a:t>Energy Efficiency &amp; Waste Management: He advocated for reducing power transmission and distribution losses and championed the use of municipal waste for </a:t>
            </a:r>
          </a:p>
          <a:p>
            <a:r>
              <a:rPr lang="en-US"/>
              <a:t>energy generation.</a:t>
            </a:r>
          </a:p>
          <a:p>
            <a:endParaRPr lang="en-US"/>
          </a:p>
          <a:p>
            <a:r>
              <a:rPr lang="en-US"/>
              <a:t>Dr. Kalam envisioned India's sustainable future through actionable environmentalism and energy innovation. He proposed a robust blend of renewable sources—solar, wind, tidal, geothermal, and bio-fuels—alongside reducing transmission losses and generating power from municipal waste. He championed tree plantation and a "Clean Earth" movement, emphasizing that true innovation lies in daring to think differently and transforming dreams into actions that serve humani</a:t>
            </a:r>
          </a:p>
          <a:p>
            <a:endParaRPr lang="en-US"/>
          </a:p>
          <a:p>
            <a:r>
              <a:rPr lang="en-US"/>
              <a:t>Tree Plantation Drive: He believed in the power of nature, urging citizens to "plant a tree today for a better tomorrow" to balance the ecosystem.</a:t>
            </a:r>
          </a:p>
          <a:p>
            <a:endParaRPr lang="en-US"/>
          </a:p>
          <a:p>
            <a:r>
              <a:rPr lang="en-US"/>
              <a:t>Actionable Environmentalism: Dr. Kalam advocated for a "Clean Earth" movement, which involved maintaining clean homes, streets, and proper waste management.</a:t>
            </a:r>
          </a:p>
          <a:p>
            <a:endParaRPr lang="en-US"/>
          </a:p>
          <a:p>
            <a:r>
              <a:rPr lang="en-US"/>
              <a:t>Action-Oriented Dreams: Kalam emphasized that innovation comes from daring to think differently and transforming dreams into actions that serve humanity.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3.pn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8.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rot="433888">
            <a:off x="5165161" y="-70256"/>
            <a:ext cx="3945040" cy="10758571"/>
            <a:chOff x="0" y="0"/>
            <a:chExt cx="1039023" cy="2833533"/>
          </a:xfrm>
        </p:grpSpPr>
        <p:sp>
          <p:nvSpPr>
            <p:cNvPr id="3" name="Freeform 3"/>
            <p:cNvSpPr/>
            <p:nvPr/>
          </p:nvSpPr>
          <p:spPr>
            <a:xfrm>
              <a:off x="0" y="0"/>
              <a:ext cx="1039023" cy="2833533"/>
            </a:xfrm>
            <a:custGeom>
              <a:avLst/>
              <a:gdLst/>
              <a:ahLst/>
              <a:cxnLst/>
              <a:rect l="l" t="t" r="r" b="b"/>
              <a:pathLst>
                <a:path w="1039023" h="2833533">
                  <a:moveTo>
                    <a:pt x="0" y="0"/>
                  </a:moveTo>
                  <a:lnTo>
                    <a:pt x="1039023" y="0"/>
                  </a:lnTo>
                  <a:lnTo>
                    <a:pt x="1039023" y="2833533"/>
                  </a:lnTo>
                  <a:lnTo>
                    <a:pt x="0" y="2833533"/>
                  </a:lnTo>
                  <a:close/>
                </a:path>
              </a:pathLst>
            </a:custGeom>
            <a:solidFill>
              <a:srgbClr val="FFDE59"/>
            </a:solidFill>
          </p:spPr>
          <p:txBody>
            <a:bodyPr/>
            <a:lstStyle/>
            <a:p>
              <a:endParaRPr lang="en-US"/>
            </a:p>
          </p:txBody>
        </p:sp>
        <p:sp>
          <p:nvSpPr>
            <p:cNvPr id="4" name="TextBox 4"/>
            <p:cNvSpPr txBox="1"/>
            <p:nvPr/>
          </p:nvSpPr>
          <p:spPr>
            <a:xfrm>
              <a:off x="0" y="-38100"/>
              <a:ext cx="1039023" cy="287163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822585">
            <a:off x="9313359" y="-316051"/>
            <a:ext cx="3945040" cy="12405268"/>
            <a:chOff x="0" y="0"/>
            <a:chExt cx="1039023" cy="3267231"/>
          </a:xfrm>
        </p:grpSpPr>
        <p:sp>
          <p:nvSpPr>
            <p:cNvPr id="6" name="Freeform 6"/>
            <p:cNvSpPr/>
            <p:nvPr/>
          </p:nvSpPr>
          <p:spPr>
            <a:xfrm>
              <a:off x="0" y="0"/>
              <a:ext cx="1039023" cy="3267231"/>
            </a:xfrm>
            <a:custGeom>
              <a:avLst/>
              <a:gdLst/>
              <a:ahLst/>
              <a:cxnLst/>
              <a:rect l="l" t="t" r="r" b="b"/>
              <a:pathLst>
                <a:path w="1039023" h="3267231">
                  <a:moveTo>
                    <a:pt x="0" y="0"/>
                  </a:moveTo>
                  <a:lnTo>
                    <a:pt x="1039023" y="0"/>
                  </a:lnTo>
                  <a:lnTo>
                    <a:pt x="1039023" y="3267231"/>
                  </a:lnTo>
                  <a:lnTo>
                    <a:pt x="0" y="3267231"/>
                  </a:lnTo>
                  <a:close/>
                </a:path>
              </a:pathLst>
            </a:custGeom>
            <a:solidFill>
              <a:srgbClr val="FFDE59"/>
            </a:solidFill>
          </p:spPr>
          <p:txBody>
            <a:bodyPr/>
            <a:lstStyle/>
            <a:p>
              <a:endParaRPr lang="en-US"/>
            </a:p>
          </p:txBody>
        </p:sp>
        <p:sp>
          <p:nvSpPr>
            <p:cNvPr id="7" name="TextBox 7"/>
            <p:cNvSpPr txBox="1"/>
            <p:nvPr/>
          </p:nvSpPr>
          <p:spPr>
            <a:xfrm>
              <a:off x="0" y="-38100"/>
              <a:ext cx="1039023" cy="3305331"/>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460257">
            <a:off x="6497774" y="-229908"/>
            <a:ext cx="3142773" cy="10961477"/>
            <a:chOff x="0" y="0"/>
            <a:chExt cx="827726" cy="2886973"/>
          </a:xfrm>
        </p:grpSpPr>
        <p:sp>
          <p:nvSpPr>
            <p:cNvPr id="9" name="Freeform 9"/>
            <p:cNvSpPr/>
            <p:nvPr/>
          </p:nvSpPr>
          <p:spPr>
            <a:xfrm>
              <a:off x="0" y="0"/>
              <a:ext cx="827726" cy="2886973"/>
            </a:xfrm>
            <a:custGeom>
              <a:avLst/>
              <a:gdLst/>
              <a:ahLst/>
              <a:cxnLst/>
              <a:rect l="l" t="t" r="r" b="b"/>
              <a:pathLst>
                <a:path w="827726" h="2886973">
                  <a:moveTo>
                    <a:pt x="0" y="0"/>
                  </a:moveTo>
                  <a:lnTo>
                    <a:pt x="827726" y="0"/>
                  </a:lnTo>
                  <a:lnTo>
                    <a:pt x="827726" y="2886973"/>
                  </a:lnTo>
                  <a:lnTo>
                    <a:pt x="0" y="2886973"/>
                  </a:lnTo>
                  <a:close/>
                </a:path>
              </a:pathLst>
            </a:custGeom>
            <a:solidFill>
              <a:srgbClr val="FFFFFF"/>
            </a:solidFill>
          </p:spPr>
          <p:txBody>
            <a:bodyPr/>
            <a:lstStyle/>
            <a:p>
              <a:endParaRPr lang="en-US"/>
            </a:p>
          </p:txBody>
        </p:sp>
        <p:sp>
          <p:nvSpPr>
            <p:cNvPr id="10" name="TextBox 10"/>
            <p:cNvSpPr txBox="1"/>
            <p:nvPr/>
          </p:nvSpPr>
          <p:spPr>
            <a:xfrm>
              <a:off x="0" y="-38100"/>
              <a:ext cx="827726" cy="2925073"/>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rot="-561913">
            <a:off x="8116412" y="-394770"/>
            <a:ext cx="3513531" cy="11076540"/>
            <a:chOff x="0" y="0"/>
            <a:chExt cx="925374" cy="2917278"/>
          </a:xfrm>
        </p:grpSpPr>
        <p:sp>
          <p:nvSpPr>
            <p:cNvPr id="12" name="Freeform 12"/>
            <p:cNvSpPr/>
            <p:nvPr/>
          </p:nvSpPr>
          <p:spPr>
            <a:xfrm>
              <a:off x="0" y="0"/>
              <a:ext cx="925374" cy="2917278"/>
            </a:xfrm>
            <a:custGeom>
              <a:avLst/>
              <a:gdLst/>
              <a:ahLst/>
              <a:cxnLst/>
              <a:rect l="l" t="t" r="r" b="b"/>
              <a:pathLst>
                <a:path w="925374" h="2917278">
                  <a:moveTo>
                    <a:pt x="0" y="0"/>
                  </a:moveTo>
                  <a:lnTo>
                    <a:pt x="925374" y="0"/>
                  </a:lnTo>
                  <a:lnTo>
                    <a:pt x="925374" y="2917278"/>
                  </a:lnTo>
                  <a:lnTo>
                    <a:pt x="0" y="2917278"/>
                  </a:lnTo>
                  <a:close/>
                </a:path>
              </a:pathLst>
            </a:custGeom>
            <a:solidFill>
              <a:srgbClr val="FFFFFF"/>
            </a:solidFill>
          </p:spPr>
          <p:txBody>
            <a:bodyPr/>
            <a:lstStyle/>
            <a:p>
              <a:endParaRPr lang="en-US"/>
            </a:p>
          </p:txBody>
        </p:sp>
        <p:sp>
          <p:nvSpPr>
            <p:cNvPr id="13" name="TextBox 13"/>
            <p:cNvSpPr txBox="1"/>
            <p:nvPr/>
          </p:nvSpPr>
          <p:spPr>
            <a:xfrm>
              <a:off x="0" y="-38100"/>
              <a:ext cx="925374" cy="2955378"/>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rot="-2700000">
            <a:off x="4685193" y="1273938"/>
            <a:ext cx="8414274" cy="8947567"/>
          </a:xfrm>
          <a:custGeom>
            <a:avLst/>
            <a:gdLst/>
            <a:ahLst/>
            <a:cxnLst/>
            <a:rect l="l" t="t" r="r" b="b"/>
            <a:pathLst>
              <a:path w="8414274" h="8947567">
                <a:moveTo>
                  <a:pt x="0" y="0"/>
                </a:moveTo>
                <a:lnTo>
                  <a:pt x="8414274" y="0"/>
                </a:lnTo>
                <a:lnTo>
                  <a:pt x="8414274" y="8947568"/>
                </a:lnTo>
                <a:lnTo>
                  <a:pt x="0" y="8947568"/>
                </a:lnTo>
                <a:lnTo>
                  <a:pt x="0" y="0"/>
                </a:lnTo>
                <a:close/>
              </a:path>
            </a:pathLst>
          </a:custGeom>
          <a:blipFill>
            <a:blip r:embed="rId2"/>
            <a:stretch>
              <a:fillRect t="-2244" b="-2244"/>
            </a:stretch>
          </a:blipFill>
        </p:spPr>
        <p:txBody>
          <a:bodyPr/>
          <a:lstStyle/>
          <a:p>
            <a:endParaRPr lang="en-US"/>
          </a:p>
        </p:txBody>
      </p:sp>
      <p:sp>
        <p:nvSpPr>
          <p:cNvPr id="15" name="TextBox 15"/>
          <p:cNvSpPr txBox="1"/>
          <p:nvPr/>
        </p:nvSpPr>
        <p:spPr>
          <a:xfrm>
            <a:off x="-1242078" y="9574530"/>
            <a:ext cx="5484367" cy="533400"/>
          </a:xfrm>
          <a:prstGeom prst="rect">
            <a:avLst/>
          </a:prstGeom>
        </p:spPr>
        <p:txBody>
          <a:bodyPr lIns="0" tIns="0" rIns="0" bIns="0" rtlCol="0" anchor="t">
            <a:spAutoFit/>
          </a:bodyPr>
          <a:lstStyle/>
          <a:p>
            <a:pPr algn="ctr">
              <a:lnSpc>
                <a:spcPts val="4200"/>
              </a:lnSpc>
            </a:pPr>
            <a:r>
              <a:rPr lang="en-US" sz="3000">
                <a:solidFill>
                  <a:srgbClr val="FFDE59"/>
                </a:solidFill>
                <a:latin typeface="Sprite Graffiti"/>
                <a:ea typeface="Sprite Graffiti"/>
                <a:cs typeface="Sprite Graffiti"/>
                <a:sym typeface="Sprite Graffiti"/>
              </a:rPr>
              <a:t>By Hemendra</a:t>
            </a:r>
          </a:p>
        </p:txBody>
      </p:sp>
      <p:sp>
        <p:nvSpPr>
          <p:cNvPr id="16" name="Freeform 16"/>
          <p:cNvSpPr/>
          <p:nvPr/>
        </p:nvSpPr>
        <p:spPr>
          <a:xfrm>
            <a:off x="2753992" y="9410162"/>
            <a:ext cx="855799" cy="938335"/>
          </a:xfrm>
          <a:custGeom>
            <a:avLst/>
            <a:gdLst/>
            <a:ahLst/>
            <a:cxnLst/>
            <a:rect l="l" t="t" r="r" b="b"/>
            <a:pathLst>
              <a:path w="855799" h="938335">
                <a:moveTo>
                  <a:pt x="0" y="0"/>
                </a:moveTo>
                <a:lnTo>
                  <a:pt x="855799" y="0"/>
                </a:lnTo>
                <a:lnTo>
                  <a:pt x="855799" y="938335"/>
                </a:lnTo>
                <a:lnTo>
                  <a:pt x="0" y="938335"/>
                </a:lnTo>
                <a:lnTo>
                  <a:pt x="0" y="0"/>
                </a:lnTo>
                <a:close/>
              </a:path>
            </a:pathLst>
          </a:custGeom>
          <a:blipFill>
            <a:blip r:embed="rId3"/>
            <a:stretch>
              <a:fillRect l="-4822" r="-4822"/>
            </a:stretch>
          </a:blipFill>
        </p:spPr>
        <p:txBody>
          <a:bodyPr/>
          <a:lstStyle/>
          <a:p>
            <a:endParaRPr lang="en-US"/>
          </a:p>
        </p:txBody>
      </p:sp>
      <p:sp>
        <p:nvSpPr>
          <p:cNvPr id="17" name="TextBox 17"/>
          <p:cNvSpPr txBox="1"/>
          <p:nvPr/>
        </p:nvSpPr>
        <p:spPr>
          <a:xfrm>
            <a:off x="678394" y="3874382"/>
            <a:ext cx="2334369" cy="1484005"/>
          </a:xfrm>
          <a:prstGeom prst="rect">
            <a:avLst/>
          </a:prstGeom>
        </p:spPr>
        <p:txBody>
          <a:bodyPr lIns="0" tIns="0" rIns="0" bIns="0" rtlCol="0" anchor="t">
            <a:spAutoFit/>
          </a:bodyPr>
          <a:lstStyle/>
          <a:p>
            <a:pPr algn="ctr">
              <a:lnSpc>
                <a:spcPts val="12179"/>
              </a:lnSpc>
              <a:spcBef>
                <a:spcPct val="0"/>
              </a:spcBef>
            </a:pPr>
            <a:r>
              <a:rPr lang="en-US" sz="8699">
                <a:solidFill>
                  <a:srgbClr val="FFDE59"/>
                </a:solidFill>
                <a:latin typeface="Black Ops One"/>
                <a:ea typeface="Black Ops One"/>
                <a:cs typeface="Black Ops One"/>
                <a:sym typeface="Black Ops One"/>
              </a:rPr>
              <a:t>APJ</a:t>
            </a:r>
          </a:p>
        </p:txBody>
      </p:sp>
      <p:sp>
        <p:nvSpPr>
          <p:cNvPr id="18" name="TextBox 18"/>
          <p:cNvSpPr txBox="1"/>
          <p:nvPr/>
        </p:nvSpPr>
        <p:spPr>
          <a:xfrm>
            <a:off x="13068236" y="2307083"/>
            <a:ext cx="5219764" cy="3579499"/>
          </a:xfrm>
          <a:prstGeom prst="rect">
            <a:avLst/>
          </a:prstGeom>
        </p:spPr>
        <p:txBody>
          <a:bodyPr lIns="0" tIns="0" rIns="0" bIns="0" rtlCol="0" anchor="t">
            <a:spAutoFit/>
          </a:bodyPr>
          <a:lstStyle/>
          <a:p>
            <a:pPr algn="ctr">
              <a:lnSpc>
                <a:spcPts val="12179"/>
              </a:lnSpc>
            </a:pPr>
            <a:r>
              <a:rPr lang="en-US" sz="8699">
                <a:solidFill>
                  <a:srgbClr val="FFDE59"/>
                </a:solidFill>
                <a:latin typeface="Black Ops One"/>
                <a:ea typeface="Black Ops One"/>
                <a:cs typeface="Black Ops One"/>
                <a:sym typeface="Black Ops One"/>
              </a:rPr>
              <a:t>ABDUL</a:t>
            </a:r>
          </a:p>
          <a:p>
            <a:pPr algn="ctr">
              <a:lnSpc>
                <a:spcPts val="12179"/>
              </a:lnSpc>
            </a:pPr>
            <a:r>
              <a:rPr lang="en-US" sz="8699">
                <a:solidFill>
                  <a:srgbClr val="FFDE59"/>
                </a:solidFill>
                <a:latin typeface="Black Ops One"/>
                <a:ea typeface="Black Ops One"/>
                <a:cs typeface="Black Ops One"/>
                <a:sym typeface="Black Ops One"/>
              </a:rPr>
              <a:t>KALAM</a:t>
            </a:r>
          </a:p>
          <a:p>
            <a:pPr algn="ctr">
              <a:lnSpc>
                <a:spcPts val="3780"/>
              </a:lnSpc>
              <a:spcBef>
                <a:spcPct val="0"/>
              </a:spcBef>
            </a:pPr>
            <a:r>
              <a:rPr lang="en-US" sz="2700">
                <a:solidFill>
                  <a:srgbClr val="FFDE59"/>
                </a:solidFill>
                <a:latin typeface="Black Ops One"/>
                <a:ea typeface="Black Ops One"/>
                <a:cs typeface="Black Ops One"/>
                <a:sym typeface="Black Ops One"/>
              </a:rPr>
              <a:t>When </a:t>
            </a:r>
            <a:r>
              <a:rPr lang="en-US" sz="2700">
                <a:solidFill>
                  <a:srgbClr val="006B39"/>
                </a:solidFill>
                <a:latin typeface="Black Ops One"/>
                <a:ea typeface="Black Ops One"/>
                <a:cs typeface="Black Ops One"/>
                <a:sym typeface="Black Ops One"/>
              </a:rPr>
              <a:t>less </a:t>
            </a:r>
            <a:r>
              <a:rPr lang="en-US" sz="2700">
                <a:solidFill>
                  <a:srgbClr val="FFDE59"/>
                </a:solidFill>
                <a:latin typeface="Black Ops One"/>
                <a:ea typeface="Black Ops One"/>
                <a:cs typeface="Black Ops One"/>
                <a:sym typeface="Black Ops One"/>
              </a:rPr>
              <a:t>is</a:t>
            </a:r>
            <a:r>
              <a:rPr lang="en-US" sz="2700">
                <a:solidFill>
                  <a:srgbClr val="006B39"/>
                </a:solidFill>
                <a:latin typeface="Black Ops One"/>
                <a:ea typeface="Black Ops One"/>
                <a:cs typeface="Black Ops One"/>
                <a:sym typeface="Black Ops One"/>
              </a:rPr>
              <a:t> more</a:t>
            </a:r>
          </a:p>
        </p:txBody>
      </p:sp>
      <p:sp>
        <p:nvSpPr>
          <p:cNvPr id="19" name="TextBox 19"/>
          <p:cNvSpPr txBox="1"/>
          <p:nvPr/>
        </p:nvSpPr>
        <p:spPr>
          <a:xfrm>
            <a:off x="7100813" y="9831704"/>
            <a:ext cx="4086374" cy="495301"/>
          </a:xfrm>
          <a:prstGeom prst="rect">
            <a:avLst/>
          </a:prstGeom>
        </p:spPr>
        <p:txBody>
          <a:bodyPr lIns="0" tIns="0" rIns="0" bIns="0" rtlCol="0" anchor="t">
            <a:spAutoFit/>
          </a:bodyPr>
          <a:lstStyle/>
          <a:p>
            <a:pPr algn="ctr">
              <a:lnSpc>
                <a:spcPts val="4199"/>
              </a:lnSpc>
              <a:spcBef>
                <a:spcPct val="0"/>
              </a:spcBef>
            </a:pPr>
            <a:r>
              <a:rPr lang="en-US" sz="2999">
                <a:solidFill>
                  <a:srgbClr val="000000"/>
                </a:solidFill>
                <a:latin typeface="Black Ops One"/>
                <a:ea typeface="Black Ops One"/>
                <a:cs typeface="Black Ops One"/>
                <a:sym typeface="Black Ops One"/>
              </a:rPr>
              <a:t>Missile Man Of India</a:t>
            </a:r>
          </a:p>
        </p:txBody>
      </p:sp>
      <p:sp>
        <p:nvSpPr>
          <p:cNvPr id="20" name="TextBox 20"/>
          <p:cNvSpPr txBox="1"/>
          <p:nvPr/>
        </p:nvSpPr>
        <p:spPr>
          <a:xfrm rot="-10800000">
            <a:off x="-2063790" y="0"/>
            <a:ext cx="5484367" cy="533400"/>
          </a:xfrm>
          <a:prstGeom prst="rect">
            <a:avLst/>
          </a:prstGeom>
        </p:spPr>
        <p:txBody>
          <a:bodyPr lIns="0" tIns="0" rIns="0" bIns="0" rtlCol="0" anchor="t">
            <a:spAutoFit/>
          </a:bodyPr>
          <a:lstStyle/>
          <a:p>
            <a:pPr algn="ctr">
              <a:lnSpc>
                <a:spcPts val="4200"/>
              </a:lnSpc>
            </a:pPr>
            <a:r>
              <a:rPr lang="en-US" sz="3000">
                <a:solidFill>
                  <a:srgbClr val="0C1B31">
                    <a:alpha val="7843"/>
                  </a:srgbClr>
                </a:solidFill>
                <a:latin typeface="Sprite Graffiti"/>
                <a:ea typeface="Sprite Graffiti"/>
                <a:cs typeface="Sprite Graffiti"/>
                <a:sym typeface="Sprite Graffiti"/>
              </a:rPr>
              <a:t>NIGHTo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972520" cy="10287000"/>
            <a:chOff x="0" y="0"/>
            <a:chExt cx="519511" cy="2709333"/>
          </a:xfrm>
        </p:grpSpPr>
        <p:sp>
          <p:nvSpPr>
            <p:cNvPr id="3" name="Freeform 3"/>
            <p:cNvSpPr/>
            <p:nvPr/>
          </p:nvSpPr>
          <p:spPr>
            <a:xfrm>
              <a:off x="0" y="0"/>
              <a:ext cx="519511" cy="2709333"/>
            </a:xfrm>
            <a:custGeom>
              <a:avLst/>
              <a:gdLst/>
              <a:ahLst/>
              <a:cxnLst/>
              <a:rect l="l" t="t" r="r" b="b"/>
              <a:pathLst>
                <a:path w="519511" h="2709333">
                  <a:moveTo>
                    <a:pt x="0" y="0"/>
                  </a:moveTo>
                  <a:lnTo>
                    <a:pt x="519511" y="0"/>
                  </a:lnTo>
                  <a:lnTo>
                    <a:pt x="519511" y="2709333"/>
                  </a:lnTo>
                  <a:lnTo>
                    <a:pt x="0" y="2709333"/>
                  </a:lnTo>
                  <a:close/>
                </a:path>
              </a:pathLst>
            </a:custGeom>
            <a:solidFill>
              <a:srgbClr val="FFDE59"/>
            </a:solidFill>
          </p:spPr>
          <p:txBody>
            <a:bodyPr/>
            <a:lstStyle/>
            <a:p>
              <a:endParaRPr lang="en-US"/>
            </a:p>
          </p:txBody>
        </p:sp>
        <p:sp>
          <p:nvSpPr>
            <p:cNvPr id="4" name="TextBox 4"/>
            <p:cNvSpPr txBox="1"/>
            <p:nvPr/>
          </p:nvSpPr>
          <p:spPr>
            <a:xfrm>
              <a:off x="0" y="-38100"/>
              <a:ext cx="519511" cy="274743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6184892" y="37076"/>
            <a:ext cx="2103108" cy="10249924"/>
            <a:chOff x="0" y="0"/>
            <a:chExt cx="553905" cy="2699568"/>
          </a:xfrm>
        </p:grpSpPr>
        <p:sp>
          <p:nvSpPr>
            <p:cNvPr id="6" name="Freeform 6"/>
            <p:cNvSpPr/>
            <p:nvPr/>
          </p:nvSpPr>
          <p:spPr>
            <a:xfrm>
              <a:off x="0" y="0"/>
              <a:ext cx="553905" cy="2699568"/>
            </a:xfrm>
            <a:custGeom>
              <a:avLst/>
              <a:gdLst/>
              <a:ahLst/>
              <a:cxnLst/>
              <a:rect l="l" t="t" r="r" b="b"/>
              <a:pathLst>
                <a:path w="553905" h="2699568">
                  <a:moveTo>
                    <a:pt x="0" y="0"/>
                  </a:moveTo>
                  <a:lnTo>
                    <a:pt x="553905" y="0"/>
                  </a:lnTo>
                  <a:lnTo>
                    <a:pt x="553905" y="2699568"/>
                  </a:lnTo>
                  <a:lnTo>
                    <a:pt x="0" y="2699568"/>
                  </a:lnTo>
                  <a:close/>
                </a:path>
              </a:pathLst>
            </a:custGeom>
            <a:solidFill>
              <a:srgbClr val="FFDE59"/>
            </a:solidFill>
          </p:spPr>
          <p:txBody>
            <a:bodyPr/>
            <a:lstStyle/>
            <a:p>
              <a:endParaRPr lang="en-US"/>
            </a:p>
          </p:txBody>
        </p:sp>
        <p:sp>
          <p:nvSpPr>
            <p:cNvPr id="7" name="TextBox 7"/>
            <p:cNvSpPr txBox="1"/>
            <p:nvPr/>
          </p:nvSpPr>
          <p:spPr>
            <a:xfrm>
              <a:off x="0" y="-38100"/>
              <a:ext cx="553905" cy="2737668"/>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658251" y="3500990"/>
            <a:ext cx="12852071" cy="5317526"/>
            <a:chOff x="0" y="0"/>
            <a:chExt cx="3384908" cy="1400501"/>
          </a:xfrm>
        </p:grpSpPr>
        <p:sp>
          <p:nvSpPr>
            <p:cNvPr id="9" name="Freeform 9"/>
            <p:cNvSpPr/>
            <p:nvPr/>
          </p:nvSpPr>
          <p:spPr>
            <a:xfrm>
              <a:off x="0" y="0"/>
              <a:ext cx="3384908" cy="1400501"/>
            </a:xfrm>
            <a:custGeom>
              <a:avLst/>
              <a:gdLst/>
              <a:ahLst/>
              <a:cxnLst/>
              <a:rect l="l" t="t" r="r" b="b"/>
              <a:pathLst>
                <a:path w="3384908" h="1400501">
                  <a:moveTo>
                    <a:pt x="0" y="0"/>
                  </a:moveTo>
                  <a:lnTo>
                    <a:pt x="3384908" y="0"/>
                  </a:lnTo>
                  <a:lnTo>
                    <a:pt x="3384908" y="1400501"/>
                  </a:lnTo>
                  <a:lnTo>
                    <a:pt x="0" y="1400501"/>
                  </a:lnTo>
                  <a:close/>
                </a:path>
              </a:pathLst>
            </a:custGeom>
            <a:solidFill>
              <a:srgbClr val="FFFFFF"/>
            </a:solidFill>
          </p:spPr>
          <p:txBody>
            <a:bodyPr/>
            <a:lstStyle/>
            <a:p>
              <a:endParaRPr lang="en-US"/>
            </a:p>
          </p:txBody>
        </p:sp>
        <p:sp>
          <p:nvSpPr>
            <p:cNvPr id="10" name="TextBox 10"/>
            <p:cNvSpPr txBox="1"/>
            <p:nvPr/>
          </p:nvSpPr>
          <p:spPr>
            <a:xfrm>
              <a:off x="0" y="-57150"/>
              <a:ext cx="3384908" cy="1457651"/>
            </a:xfrm>
            <a:prstGeom prst="rect">
              <a:avLst/>
            </a:prstGeom>
          </p:spPr>
          <p:txBody>
            <a:bodyPr lIns="50800" tIns="50800" rIns="50800" bIns="50800" rtlCol="0" anchor="ctr"/>
            <a:lstStyle/>
            <a:p>
              <a:pPr algn="just">
                <a:lnSpc>
                  <a:spcPts val="3639"/>
                </a:lnSpc>
                <a:spcBef>
                  <a:spcPct val="0"/>
                </a:spcBef>
              </a:pPr>
              <a:r>
                <a:rPr lang="en-US" sz="2599">
                  <a:solidFill>
                    <a:srgbClr val="3231C3"/>
                  </a:solidFill>
                  <a:latin typeface="Celandine"/>
                  <a:ea typeface="Celandine"/>
                  <a:cs typeface="Celandine"/>
                  <a:sym typeface="Celandine"/>
                </a:rPr>
                <a:t>Avul Pakir Jainulabdeen Abdul Kalam 15 October 1931 – 27 July 2015) was an Indian aerospace scientist and statesman who served as the president of India from 2002 to 2007.Kalam studied physics and aroespace engineering. He spent the next four decades as a scientist and science administrator, mainly at the Defence Research and Development Organisation (DRDO) and Indian Space Research Organisation (ISRO) and was intimately involved in India's civilian space programme and military missile devlopment efforts. He was known as the "Missile Man of India" for his work on the development of ballistic missile and launch vehicle technology.</a:t>
              </a:r>
            </a:p>
          </p:txBody>
        </p:sp>
      </p:grpSp>
      <p:sp>
        <p:nvSpPr>
          <p:cNvPr id="11" name="Freeform 11"/>
          <p:cNvSpPr/>
          <p:nvPr/>
        </p:nvSpPr>
        <p:spPr>
          <a:xfrm rot="-2700000">
            <a:off x="4326771" y="-8766565"/>
            <a:ext cx="8414274" cy="8947567"/>
          </a:xfrm>
          <a:custGeom>
            <a:avLst/>
            <a:gdLst/>
            <a:ahLst/>
            <a:cxnLst/>
            <a:rect l="l" t="t" r="r" b="b"/>
            <a:pathLst>
              <a:path w="8414274" h="8947567">
                <a:moveTo>
                  <a:pt x="0" y="0"/>
                </a:moveTo>
                <a:lnTo>
                  <a:pt x="8414274" y="0"/>
                </a:lnTo>
                <a:lnTo>
                  <a:pt x="8414274" y="8947568"/>
                </a:lnTo>
                <a:lnTo>
                  <a:pt x="0" y="8947568"/>
                </a:lnTo>
                <a:lnTo>
                  <a:pt x="0" y="0"/>
                </a:lnTo>
                <a:close/>
              </a:path>
            </a:pathLst>
          </a:custGeom>
          <a:blipFill>
            <a:blip r:embed="rId2"/>
            <a:stretch>
              <a:fillRect t="-2244" b="-2244"/>
            </a:stretch>
          </a:blipFill>
        </p:spPr>
        <p:txBody>
          <a:bodyPr/>
          <a:lstStyle/>
          <a:p>
            <a:endParaRPr lang="en-US"/>
          </a:p>
        </p:txBody>
      </p:sp>
      <p:sp>
        <p:nvSpPr>
          <p:cNvPr id="12" name="Freeform 12"/>
          <p:cNvSpPr/>
          <p:nvPr/>
        </p:nvSpPr>
        <p:spPr>
          <a:xfrm>
            <a:off x="14342549" y="7212448"/>
            <a:ext cx="2916751" cy="3112652"/>
          </a:xfrm>
          <a:custGeom>
            <a:avLst/>
            <a:gdLst/>
            <a:ahLst/>
            <a:cxnLst/>
            <a:rect l="l" t="t" r="r" b="b"/>
            <a:pathLst>
              <a:path w="2916751" h="3112652">
                <a:moveTo>
                  <a:pt x="0" y="0"/>
                </a:moveTo>
                <a:lnTo>
                  <a:pt x="2916751" y="0"/>
                </a:lnTo>
                <a:lnTo>
                  <a:pt x="2916751" y="3112652"/>
                </a:lnTo>
                <a:lnTo>
                  <a:pt x="0" y="3112652"/>
                </a:lnTo>
                <a:lnTo>
                  <a:pt x="0" y="0"/>
                </a:lnTo>
                <a:close/>
              </a:path>
            </a:pathLst>
          </a:custGeom>
          <a:blipFill>
            <a:blip r:embed="rId3"/>
            <a:stretch>
              <a:fillRect/>
            </a:stretch>
          </a:blipFill>
        </p:spPr>
        <p:txBody>
          <a:bodyPr/>
          <a:lstStyle/>
          <a:p>
            <a:endParaRPr lang="en-US"/>
          </a:p>
        </p:txBody>
      </p:sp>
      <p:sp>
        <p:nvSpPr>
          <p:cNvPr id="13" name="Freeform 13"/>
          <p:cNvSpPr/>
          <p:nvPr/>
        </p:nvSpPr>
        <p:spPr>
          <a:xfrm rot="2700000">
            <a:off x="2244967" y="2202106"/>
            <a:ext cx="1438059" cy="2075938"/>
          </a:xfrm>
          <a:custGeom>
            <a:avLst/>
            <a:gdLst/>
            <a:ahLst/>
            <a:cxnLst/>
            <a:rect l="l" t="t" r="r" b="b"/>
            <a:pathLst>
              <a:path w="1438059" h="2075938">
                <a:moveTo>
                  <a:pt x="0" y="0"/>
                </a:moveTo>
                <a:lnTo>
                  <a:pt x="1438059" y="0"/>
                </a:lnTo>
                <a:lnTo>
                  <a:pt x="1438059" y="2075938"/>
                </a:lnTo>
                <a:lnTo>
                  <a:pt x="0" y="20759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17755584" y="2878445"/>
            <a:ext cx="5219764" cy="3036580"/>
          </a:xfrm>
          <a:prstGeom prst="rect">
            <a:avLst/>
          </a:prstGeom>
        </p:spPr>
        <p:txBody>
          <a:bodyPr lIns="0" tIns="0" rIns="0" bIns="0" rtlCol="0" anchor="t">
            <a:spAutoFit/>
          </a:bodyPr>
          <a:lstStyle/>
          <a:p>
            <a:pPr algn="ctr">
              <a:lnSpc>
                <a:spcPts val="12179"/>
              </a:lnSpc>
            </a:pPr>
            <a:r>
              <a:rPr lang="en-US" sz="8699">
                <a:solidFill>
                  <a:srgbClr val="FFDE59"/>
                </a:solidFill>
                <a:latin typeface="Bernoru"/>
                <a:ea typeface="Bernoru"/>
                <a:cs typeface="Bernoru"/>
                <a:sym typeface="Bernoru"/>
              </a:rPr>
              <a:t>ABDUL</a:t>
            </a:r>
          </a:p>
          <a:p>
            <a:pPr algn="ctr">
              <a:lnSpc>
                <a:spcPts val="12179"/>
              </a:lnSpc>
              <a:spcBef>
                <a:spcPct val="0"/>
              </a:spcBef>
            </a:pPr>
            <a:r>
              <a:rPr lang="en-US" sz="8699">
                <a:solidFill>
                  <a:srgbClr val="FFDE59"/>
                </a:solidFill>
                <a:latin typeface="Bernoru"/>
                <a:ea typeface="Bernoru"/>
                <a:cs typeface="Bernoru"/>
                <a:sym typeface="Bernoru"/>
              </a:rPr>
              <a:t>KALAM</a:t>
            </a:r>
          </a:p>
        </p:txBody>
      </p:sp>
      <p:sp>
        <p:nvSpPr>
          <p:cNvPr id="15" name="TextBox 15"/>
          <p:cNvSpPr txBox="1"/>
          <p:nvPr/>
        </p:nvSpPr>
        <p:spPr>
          <a:xfrm>
            <a:off x="-2359620" y="3649970"/>
            <a:ext cx="2359620" cy="1493530"/>
          </a:xfrm>
          <a:prstGeom prst="rect">
            <a:avLst/>
          </a:prstGeom>
        </p:spPr>
        <p:txBody>
          <a:bodyPr lIns="0" tIns="0" rIns="0" bIns="0" rtlCol="0" anchor="t">
            <a:spAutoFit/>
          </a:bodyPr>
          <a:lstStyle/>
          <a:p>
            <a:pPr algn="ctr">
              <a:lnSpc>
                <a:spcPts val="12179"/>
              </a:lnSpc>
              <a:spcBef>
                <a:spcPct val="0"/>
              </a:spcBef>
            </a:pPr>
            <a:r>
              <a:rPr lang="en-US" sz="8699">
                <a:solidFill>
                  <a:srgbClr val="FFDE59"/>
                </a:solidFill>
                <a:latin typeface="Bernoru"/>
                <a:ea typeface="Bernoru"/>
                <a:cs typeface="Bernoru"/>
                <a:sym typeface="Bernoru"/>
              </a:rPr>
              <a:t>APJ</a:t>
            </a:r>
          </a:p>
        </p:txBody>
      </p:sp>
      <p:sp>
        <p:nvSpPr>
          <p:cNvPr id="16" name="TextBox 16"/>
          <p:cNvSpPr txBox="1"/>
          <p:nvPr/>
        </p:nvSpPr>
        <p:spPr>
          <a:xfrm>
            <a:off x="6400800" y="895350"/>
            <a:ext cx="5132379" cy="1298432"/>
          </a:xfrm>
          <a:prstGeom prst="rect">
            <a:avLst/>
          </a:prstGeom>
        </p:spPr>
        <p:txBody>
          <a:bodyPr wrap="square" lIns="0" tIns="0" rIns="0" bIns="0" rtlCol="0" anchor="t">
            <a:spAutoFit/>
          </a:bodyPr>
          <a:lstStyle/>
          <a:p>
            <a:pPr algn="ctr">
              <a:lnSpc>
                <a:spcPts val="10499"/>
              </a:lnSpc>
              <a:spcBef>
                <a:spcPct val="0"/>
              </a:spcBef>
            </a:pPr>
            <a:r>
              <a:rPr lang="en-US" sz="7499" dirty="0">
                <a:solidFill>
                  <a:srgbClr val="FFDE59"/>
                </a:solidFill>
                <a:latin typeface="League Spartan"/>
                <a:ea typeface="League Spartan"/>
                <a:cs typeface="League Spartan"/>
                <a:sym typeface="League Spartan"/>
              </a:rPr>
              <a:t>Backstory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972520" cy="10287000"/>
            <a:chOff x="0" y="0"/>
            <a:chExt cx="519511" cy="2709333"/>
          </a:xfrm>
        </p:grpSpPr>
        <p:sp>
          <p:nvSpPr>
            <p:cNvPr id="3" name="Freeform 3"/>
            <p:cNvSpPr/>
            <p:nvPr/>
          </p:nvSpPr>
          <p:spPr>
            <a:xfrm>
              <a:off x="0" y="0"/>
              <a:ext cx="519511" cy="2709333"/>
            </a:xfrm>
            <a:custGeom>
              <a:avLst/>
              <a:gdLst/>
              <a:ahLst/>
              <a:cxnLst/>
              <a:rect l="l" t="t" r="r" b="b"/>
              <a:pathLst>
                <a:path w="519511" h="2709333">
                  <a:moveTo>
                    <a:pt x="0" y="0"/>
                  </a:moveTo>
                  <a:lnTo>
                    <a:pt x="519511" y="0"/>
                  </a:lnTo>
                  <a:lnTo>
                    <a:pt x="519511" y="2709333"/>
                  </a:lnTo>
                  <a:lnTo>
                    <a:pt x="0" y="2709333"/>
                  </a:lnTo>
                  <a:close/>
                </a:path>
              </a:pathLst>
            </a:custGeom>
            <a:solidFill>
              <a:srgbClr val="FFDE59"/>
            </a:solidFill>
          </p:spPr>
          <p:txBody>
            <a:bodyPr/>
            <a:lstStyle/>
            <a:p>
              <a:endParaRPr lang="en-US"/>
            </a:p>
          </p:txBody>
        </p:sp>
        <p:sp>
          <p:nvSpPr>
            <p:cNvPr id="4" name="TextBox 4"/>
            <p:cNvSpPr txBox="1"/>
            <p:nvPr/>
          </p:nvSpPr>
          <p:spPr>
            <a:xfrm>
              <a:off x="0" y="-38100"/>
              <a:ext cx="519511" cy="27474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1659580" y="4151549"/>
            <a:ext cx="4016409" cy="4016409"/>
          </a:xfrm>
          <a:custGeom>
            <a:avLst/>
            <a:gdLst/>
            <a:ahLst/>
            <a:cxnLst/>
            <a:rect l="l" t="t" r="r" b="b"/>
            <a:pathLst>
              <a:path w="4016409" h="4016409">
                <a:moveTo>
                  <a:pt x="0" y="0"/>
                </a:moveTo>
                <a:lnTo>
                  <a:pt x="4016408" y="0"/>
                </a:lnTo>
                <a:lnTo>
                  <a:pt x="4016408" y="4016409"/>
                </a:lnTo>
                <a:lnTo>
                  <a:pt x="0" y="4016409"/>
                </a:lnTo>
                <a:lnTo>
                  <a:pt x="0" y="0"/>
                </a:lnTo>
                <a:close/>
              </a:path>
            </a:pathLst>
          </a:custGeom>
          <a:blipFill>
            <a:blip r:embed="rId2"/>
            <a:stretch>
              <a:fillRect/>
            </a:stretch>
          </a:blipFill>
        </p:spPr>
        <p:txBody>
          <a:bodyPr/>
          <a:lstStyle/>
          <a:p>
            <a:endParaRPr lang="en-US"/>
          </a:p>
        </p:txBody>
      </p:sp>
      <p:sp>
        <p:nvSpPr>
          <p:cNvPr id="6" name="Freeform 6"/>
          <p:cNvSpPr/>
          <p:nvPr/>
        </p:nvSpPr>
        <p:spPr>
          <a:xfrm>
            <a:off x="16213467" y="3821420"/>
            <a:ext cx="3415935" cy="3415935"/>
          </a:xfrm>
          <a:custGeom>
            <a:avLst/>
            <a:gdLst/>
            <a:ahLst/>
            <a:cxnLst/>
            <a:rect l="l" t="t" r="r" b="b"/>
            <a:pathLst>
              <a:path w="3415935" h="3415935">
                <a:moveTo>
                  <a:pt x="0" y="0"/>
                </a:moveTo>
                <a:lnTo>
                  <a:pt x="3415935" y="0"/>
                </a:lnTo>
                <a:lnTo>
                  <a:pt x="3415935" y="3415936"/>
                </a:lnTo>
                <a:lnTo>
                  <a:pt x="0" y="3415936"/>
                </a:lnTo>
                <a:lnTo>
                  <a:pt x="0" y="0"/>
                </a:lnTo>
                <a:close/>
              </a:path>
            </a:pathLst>
          </a:custGeom>
          <a:blipFill>
            <a:blip r:embed="rId3"/>
            <a:stretch>
              <a:fillRect/>
            </a:stretch>
          </a:blipFill>
        </p:spPr>
        <p:txBody>
          <a:bodyPr/>
          <a:lstStyle/>
          <a:p>
            <a:endParaRPr lang="en-US"/>
          </a:p>
        </p:txBody>
      </p:sp>
      <p:grpSp>
        <p:nvGrpSpPr>
          <p:cNvPr id="7" name="Group 7"/>
          <p:cNvGrpSpPr/>
          <p:nvPr/>
        </p:nvGrpSpPr>
        <p:grpSpPr>
          <a:xfrm>
            <a:off x="16184892" y="37076"/>
            <a:ext cx="2103108" cy="10249924"/>
            <a:chOff x="0" y="0"/>
            <a:chExt cx="553905" cy="2699568"/>
          </a:xfrm>
        </p:grpSpPr>
        <p:sp>
          <p:nvSpPr>
            <p:cNvPr id="8" name="Freeform 8"/>
            <p:cNvSpPr/>
            <p:nvPr/>
          </p:nvSpPr>
          <p:spPr>
            <a:xfrm>
              <a:off x="0" y="0"/>
              <a:ext cx="553905" cy="2699568"/>
            </a:xfrm>
            <a:custGeom>
              <a:avLst/>
              <a:gdLst/>
              <a:ahLst/>
              <a:cxnLst/>
              <a:rect l="l" t="t" r="r" b="b"/>
              <a:pathLst>
                <a:path w="553905" h="2699568">
                  <a:moveTo>
                    <a:pt x="0" y="0"/>
                  </a:moveTo>
                  <a:lnTo>
                    <a:pt x="553905" y="0"/>
                  </a:lnTo>
                  <a:lnTo>
                    <a:pt x="553905" y="2699568"/>
                  </a:lnTo>
                  <a:lnTo>
                    <a:pt x="0" y="2699568"/>
                  </a:lnTo>
                  <a:close/>
                </a:path>
              </a:pathLst>
            </a:custGeom>
            <a:solidFill>
              <a:srgbClr val="FFDE59"/>
            </a:solidFill>
          </p:spPr>
          <p:txBody>
            <a:bodyPr/>
            <a:lstStyle/>
            <a:p>
              <a:endParaRPr lang="en-US"/>
            </a:p>
          </p:txBody>
        </p:sp>
        <p:sp>
          <p:nvSpPr>
            <p:cNvPr id="9" name="TextBox 9"/>
            <p:cNvSpPr txBox="1"/>
            <p:nvPr/>
          </p:nvSpPr>
          <p:spPr>
            <a:xfrm>
              <a:off x="0" y="-38100"/>
              <a:ext cx="553905" cy="2737668"/>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rot="-2700000">
            <a:off x="4326771" y="-8766565"/>
            <a:ext cx="8414274" cy="8947567"/>
          </a:xfrm>
          <a:custGeom>
            <a:avLst/>
            <a:gdLst/>
            <a:ahLst/>
            <a:cxnLst/>
            <a:rect l="l" t="t" r="r" b="b"/>
            <a:pathLst>
              <a:path w="8414274" h="8947567">
                <a:moveTo>
                  <a:pt x="0" y="0"/>
                </a:moveTo>
                <a:lnTo>
                  <a:pt x="8414274" y="0"/>
                </a:lnTo>
                <a:lnTo>
                  <a:pt x="8414274" y="8947568"/>
                </a:lnTo>
                <a:lnTo>
                  <a:pt x="0" y="8947568"/>
                </a:lnTo>
                <a:lnTo>
                  <a:pt x="0" y="0"/>
                </a:lnTo>
                <a:close/>
              </a:path>
            </a:pathLst>
          </a:custGeom>
          <a:blipFill>
            <a:blip r:embed="rId4"/>
            <a:stretch>
              <a:fillRect t="-2244" b="-2244"/>
            </a:stretch>
          </a:blipFill>
        </p:spPr>
        <p:txBody>
          <a:bodyPr/>
          <a:lstStyle/>
          <a:p>
            <a:endParaRPr lang="en-US"/>
          </a:p>
        </p:txBody>
      </p:sp>
      <p:sp>
        <p:nvSpPr>
          <p:cNvPr id="11" name="Freeform 11"/>
          <p:cNvSpPr/>
          <p:nvPr/>
        </p:nvSpPr>
        <p:spPr>
          <a:xfrm>
            <a:off x="17373600" y="8767140"/>
            <a:ext cx="2916751" cy="3112652"/>
          </a:xfrm>
          <a:custGeom>
            <a:avLst/>
            <a:gdLst/>
            <a:ahLst/>
            <a:cxnLst/>
            <a:rect l="l" t="t" r="r" b="b"/>
            <a:pathLst>
              <a:path w="2916751" h="3112652">
                <a:moveTo>
                  <a:pt x="0" y="0"/>
                </a:moveTo>
                <a:lnTo>
                  <a:pt x="2916751" y="0"/>
                </a:lnTo>
                <a:lnTo>
                  <a:pt x="2916751" y="3112652"/>
                </a:lnTo>
                <a:lnTo>
                  <a:pt x="0" y="3112652"/>
                </a:lnTo>
                <a:lnTo>
                  <a:pt x="0" y="0"/>
                </a:lnTo>
                <a:close/>
              </a:path>
            </a:pathLst>
          </a:custGeom>
          <a:blipFill>
            <a:blip r:embed="rId5"/>
            <a:stretch>
              <a:fillRect/>
            </a:stretch>
          </a:blipFill>
        </p:spPr>
        <p:txBody>
          <a:bodyPr/>
          <a:lstStyle/>
          <a:p>
            <a:endParaRPr lang="en-US"/>
          </a:p>
        </p:txBody>
      </p:sp>
      <p:sp>
        <p:nvSpPr>
          <p:cNvPr id="12" name="Freeform 12"/>
          <p:cNvSpPr/>
          <p:nvPr/>
        </p:nvSpPr>
        <p:spPr>
          <a:xfrm rot="2700000">
            <a:off x="4662817" y="-1969232"/>
            <a:ext cx="1438059" cy="2075938"/>
          </a:xfrm>
          <a:custGeom>
            <a:avLst/>
            <a:gdLst/>
            <a:ahLst/>
            <a:cxnLst/>
            <a:rect l="l" t="t" r="r" b="b"/>
            <a:pathLst>
              <a:path w="1438059" h="2075938">
                <a:moveTo>
                  <a:pt x="0" y="0"/>
                </a:moveTo>
                <a:lnTo>
                  <a:pt x="1438059" y="0"/>
                </a:lnTo>
                <a:lnTo>
                  <a:pt x="1438059" y="2075938"/>
                </a:lnTo>
                <a:lnTo>
                  <a:pt x="0" y="207593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TextBox 13"/>
          <p:cNvSpPr txBox="1"/>
          <p:nvPr/>
        </p:nvSpPr>
        <p:spPr>
          <a:xfrm>
            <a:off x="17755584" y="2878445"/>
            <a:ext cx="5219764" cy="3036580"/>
          </a:xfrm>
          <a:prstGeom prst="rect">
            <a:avLst/>
          </a:prstGeom>
        </p:spPr>
        <p:txBody>
          <a:bodyPr lIns="0" tIns="0" rIns="0" bIns="0" rtlCol="0" anchor="t">
            <a:spAutoFit/>
          </a:bodyPr>
          <a:lstStyle/>
          <a:p>
            <a:pPr algn="ctr">
              <a:lnSpc>
                <a:spcPts val="12179"/>
              </a:lnSpc>
            </a:pPr>
            <a:r>
              <a:rPr lang="en-US" sz="8699">
                <a:solidFill>
                  <a:srgbClr val="FFDE59"/>
                </a:solidFill>
                <a:latin typeface="Bernoru"/>
                <a:ea typeface="Bernoru"/>
                <a:cs typeface="Bernoru"/>
                <a:sym typeface="Bernoru"/>
              </a:rPr>
              <a:t>ABDUL</a:t>
            </a:r>
          </a:p>
          <a:p>
            <a:pPr algn="ctr">
              <a:lnSpc>
                <a:spcPts val="12179"/>
              </a:lnSpc>
              <a:spcBef>
                <a:spcPct val="0"/>
              </a:spcBef>
            </a:pPr>
            <a:r>
              <a:rPr lang="en-US" sz="8699">
                <a:solidFill>
                  <a:srgbClr val="FFDE59"/>
                </a:solidFill>
                <a:latin typeface="Bernoru"/>
                <a:ea typeface="Bernoru"/>
                <a:cs typeface="Bernoru"/>
                <a:sym typeface="Bernoru"/>
              </a:rPr>
              <a:t>KALAM</a:t>
            </a:r>
          </a:p>
        </p:txBody>
      </p:sp>
      <p:sp>
        <p:nvSpPr>
          <p:cNvPr id="14" name="TextBox 14"/>
          <p:cNvSpPr txBox="1"/>
          <p:nvPr/>
        </p:nvSpPr>
        <p:spPr>
          <a:xfrm>
            <a:off x="-2359620" y="3649970"/>
            <a:ext cx="2359620" cy="1493530"/>
          </a:xfrm>
          <a:prstGeom prst="rect">
            <a:avLst/>
          </a:prstGeom>
        </p:spPr>
        <p:txBody>
          <a:bodyPr lIns="0" tIns="0" rIns="0" bIns="0" rtlCol="0" anchor="t">
            <a:spAutoFit/>
          </a:bodyPr>
          <a:lstStyle/>
          <a:p>
            <a:pPr algn="ctr">
              <a:lnSpc>
                <a:spcPts val="12179"/>
              </a:lnSpc>
              <a:spcBef>
                <a:spcPct val="0"/>
              </a:spcBef>
            </a:pPr>
            <a:r>
              <a:rPr lang="en-US" sz="8699">
                <a:solidFill>
                  <a:srgbClr val="FFDE59"/>
                </a:solidFill>
                <a:latin typeface="Bernoru"/>
                <a:ea typeface="Bernoru"/>
                <a:cs typeface="Bernoru"/>
                <a:sym typeface="Bernoru"/>
              </a:rPr>
              <a:t>APJ</a:t>
            </a:r>
          </a:p>
        </p:txBody>
      </p:sp>
      <p:sp>
        <p:nvSpPr>
          <p:cNvPr id="15" name="TextBox 15"/>
          <p:cNvSpPr txBox="1"/>
          <p:nvPr/>
        </p:nvSpPr>
        <p:spPr>
          <a:xfrm>
            <a:off x="7796700" y="895350"/>
            <a:ext cx="2795100" cy="1298432"/>
          </a:xfrm>
          <a:prstGeom prst="rect">
            <a:avLst/>
          </a:prstGeom>
        </p:spPr>
        <p:txBody>
          <a:bodyPr wrap="square" lIns="0" tIns="0" rIns="0" bIns="0" rtlCol="0" anchor="t">
            <a:spAutoFit/>
          </a:bodyPr>
          <a:lstStyle/>
          <a:p>
            <a:pPr algn="ctr">
              <a:lnSpc>
                <a:spcPts val="10499"/>
              </a:lnSpc>
              <a:spcBef>
                <a:spcPct val="0"/>
              </a:spcBef>
            </a:pPr>
            <a:r>
              <a:rPr lang="en-US" sz="7499" dirty="0">
                <a:solidFill>
                  <a:srgbClr val="FFDE59"/>
                </a:solidFill>
                <a:latin typeface="League Spartan"/>
                <a:ea typeface="League Spartan"/>
                <a:cs typeface="League Spartan"/>
                <a:sym typeface="League Spartan"/>
              </a:rPr>
              <a:t>Local</a:t>
            </a:r>
          </a:p>
        </p:txBody>
      </p:sp>
      <p:grpSp>
        <p:nvGrpSpPr>
          <p:cNvPr id="16" name="Group 16"/>
          <p:cNvGrpSpPr/>
          <p:nvPr/>
        </p:nvGrpSpPr>
        <p:grpSpPr>
          <a:xfrm>
            <a:off x="2658251" y="3500990"/>
            <a:ext cx="8572550" cy="5317526"/>
            <a:chOff x="0" y="0"/>
            <a:chExt cx="2257791" cy="1400501"/>
          </a:xfrm>
        </p:grpSpPr>
        <p:sp>
          <p:nvSpPr>
            <p:cNvPr id="17" name="Freeform 17"/>
            <p:cNvSpPr/>
            <p:nvPr/>
          </p:nvSpPr>
          <p:spPr>
            <a:xfrm>
              <a:off x="0" y="0"/>
              <a:ext cx="2257791" cy="1400501"/>
            </a:xfrm>
            <a:custGeom>
              <a:avLst/>
              <a:gdLst/>
              <a:ahLst/>
              <a:cxnLst/>
              <a:rect l="l" t="t" r="r" b="b"/>
              <a:pathLst>
                <a:path w="2257791" h="1400501">
                  <a:moveTo>
                    <a:pt x="0" y="0"/>
                  </a:moveTo>
                  <a:lnTo>
                    <a:pt x="2257791" y="0"/>
                  </a:lnTo>
                  <a:lnTo>
                    <a:pt x="2257791" y="1400501"/>
                  </a:lnTo>
                  <a:lnTo>
                    <a:pt x="0" y="1400501"/>
                  </a:lnTo>
                  <a:close/>
                </a:path>
              </a:pathLst>
            </a:custGeom>
            <a:solidFill>
              <a:srgbClr val="E9EFFF"/>
            </a:solidFill>
            <a:ln cap="sq">
              <a:noFill/>
              <a:prstDash val="solid"/>
              <a:miter/>
            </a:ln>
          </p:spPr>
          <p:txBody>
            <a:bodyPr/>
            <a:lstStyle/>
            <a:p>
              <a:endParaRPr lang="en-US"/>
            </a:p>
          </p:txBody>
        </p:sp>
        <p:sp>
          <p:nvSpPr>
            <p:cNvPr id="18" name="TextBox 18"/>
            <p:cNvSpPr txBox="1"/>
            <p:nvPr/>
          </p:nvSpPr>
          <p:spPr>
            <a:xfrm>
              <a:off x="0" y="-57150"/>
              <a:ext cx="2257791" cy="1457651"/>
            </a:xfrm>
            <a:prstGeom prst="rect">
              <a:avLst/>
            </a:prstGeom>
          </p:spPr>
          <p:txBody>
            <a:bodyPr lIns="50800" tIns="50800" rIns="50800" bIns="50800" rtlCol="0" anchor="ctr"/>
            <a:lstStyle/>
            <a:p>
              <a:pPr algn="just">
                <a:lnSpc>
                  <a:spcPts val="4339"/>
                </a:lnSpc>
                <a:spcBef>
                  <a:spcPct val="0"/>
                </a:spcBef>
              </a:pPr>
              <a:r>
                <a:rPr lang="en-US" sz="3099">
                  <a:solidFill>
                    <a:srgbClr val="3231C3"/>
                  </a:solidFill>
                  <a:latin typeface="Celandine"/>
                  <a:ea typeface="Celandine"/>
                  <a:cs typeface="Celandine"/>
                  <a:sym typeface="Celandine"/>
                </a:rPr>
                <a:t>Kalam conceptualized and advocated for the PURA (Provision of Urban Amenities in Rural Areas scheme), a strategy for rural development that aimed to bridge the urban-rural divide by providing urban infrastructure and services in rural areas. He reportedly donated his savings to a trust related to this cause.</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972520" cy="10287000"/>
            <a:chOff x="0" y="0"/>
            <a:chExt cx="519511" cy="2709333"/>
          </a:xfrm>
        </p:grpSpPr>
        <p:sp>
          <p:nvSpPr>
            <p:cNvPr id="3" name="Freeform 3"/>
            <p:cNvSpPr/>
            <p:nvPr/>
          </p:nvSpPr>
          <p:spPr>
            <a:xfrm>
              <a:off x="0" y="0"/>
              <a:ext cx="519511" cy="2709333"/>
            </a:xfrm>
            <a:custGeom>
              <a:avLst/>
              <a:gdLst/>
              <a:ahLst/>
              <a:cxnLst/>
              <a:rect l="l" t="t" r="r" b="b"/>
              <a:pathLst>
                <a:path w="519511" h="2709333">
                  <a:moveTo>
                    <a:pt x="0" y="0"/>
                  </a:moveTo>
                  <a:lnTo>
                    <a:pt x="519511" y="0"/>
                  </a:lnTo>
                  <a:lnTo>
                    <a:pt x="519511" y="2709333"/>
                  </a:lnTo>
                  <a:lnTo>
                    <a:pt x="0" y="2709333"/>
                  </a:lnTo>
                  <a:close/>
                </a:path>
              </a:pathLst>
            </a:custGeom>
            <a:solidFill>
              <a:srgbClr val="FFDE59"/>
            </a:solidFill>
          </p:spPr>
          <p:txBody>
            <a:bodyPr/>
            <a:lstStyle/>
            <a:p>
              <a:endParaRPr lang="en-US"/>
            </a:p>
          </p:txBody>
        </p:sp>
        <p:sp>
          <p:nvSpPr>
            <p:cNvPr id="4" name="TextBox 4"/>
            <p:cNvSpPr txBox="1"/>
            <p:nvPr/>
          </p:nvSpPr>
          <p:spPr>
            <a:xfrm>
              <a:off x="0" y="-38100"/>
              <a:ext cx="519511" cy="27474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1999879" y="3821420"/>
            <a:ext cx="3415935" cy="3415935"/>
          </a:xfrm>
          <a:custGeom>
            <a:avLst/>
            <a:gdLst/>
            <a:ahLst/>
            <a:cxnLst/>
            <a:rect l="l" t="t" r="r" b="b"/>
            <a:pathLst>
              <a:path w="3415935" h="3415935">
                <a:moveTo>
                  <a:pt x="0" y="0"/>
                </a:moveTo>
                <a:lnTo>
                  <a:pt x="3415935" y="0"/>
                </a:lnTo>
                <a:lnTo>
                  <a:pt x="3415935" y="3415936"/>
                </a:lnTo>
                <a:lnTo>
                  <a:pt x="0" y="3415936"/>
                </a:lnTo>
                <a:lnTo>
                  <a:pt x="0" y="0"/>
                </a:lnTo>
                <a:close/>
              </a:path>
            </a:pathLst>
          </a:custGeom>
          <a:blipFill>
            <a:blip r:embed="rId2"/>
            <a:stretch>
              <a:fillRect/>
            </a:stretch>
          </a:blipFill>
        </p:spPr>
        <p:txBody>
          <a:bodyPr/>
          <a:lstStyle/>
          <a:p>
            <a:endParaRPr lang="en-US"/>
          </a:p>
        </p:txBody>
      </p:sp>
      <p:grpSp>
        <p:nvGrpSpPr>
          <p:cNvPr id="6" name="Group 6"/>
          <p:cNvGrpSpPr/>
          <p:nvPr/>
        </p:nvGrpSpPr>
        <p:grpSpPr>
          <a:xfrm>
            <a:off x="2658251" y="3500990"/>
            <a:ext cx="8572550" cy="5317526"/>
            <a:chOff x="0" y="0"/>
            <a:chExt cx="2257791" cy="1400501"/>
          </a:xfrm>
        </p:grpSpPr>
        <p:sp>
          <p:nvSpPr>
            <p:cNvPr id="7" name="Freeform 7"/>
            <p:cNvSpPr/>
            <p:nvPr/>
          </p:nvSpPr>
          <p:spPr>
            <a:xfrm>
              <a:off x="0" y="0"/>
              <a:ext cx="2257791" cy="1400501"/>
            </a:xfrm>
            <a:custGeom>
              <a:avLst/>
              <a:gdLst/>
              <a:ahLst/>
              <a:cxnLst/>
              <a:rect l="l" t="t" r="r" b="b"/>
              <a:pathLst>
                <a:path w="2257791" h="1400501">
                  <a:moveTo>
                    <a:pt x="0" y="0"/>
                  </a:moveTo>
                  <a:lnTo>
                    <a:pt x="2257791" y="0"/>
                  </a:lnTo>
                  <a:lnTo>
                    <a:pt x="2257791" y="1400501"/>
                  </a:lnTo>
                  <a:lnTo>
                    <a:pt x="0" y="1400501"/>
                  </a:lnTo>
                  <a:close/>
                </a:path>
              </a:pathLst>
            </a:custGeom>
            <a:solidFill>
              <a:srgbClr val="FFFFFF"/>
            </a:solidFill>
          </p:spPr>
          <p:txBody>
            <a:bodyPr/>
            <a:lstStyle/>
            <a:p>
              <a:endParaRPr lang="en-US"/>
            </a:p>
          </p:txBody>
        </p:sp>
        <p:sp>
          <p:nvSpPr>
            <p:cNvPr id="8" name="TextBox 8"/>
            <p:cNvSpPr txBox="1"/>
            <p:nvPr/>
          </p:nvSpPr>
          <p:spPr>
            <a:xfrm>
              <a:off x="0" y="-57150"/>
              <a:ext cx="2257791" cy="1457651"/>
            </a:xfrm>
            <a:prstGeom prst="rect">
              <a:avLst/>
            </a:prstGeom>
          </p:spPr>
          <p:txBody>
            <a:bodyPr lIns="50800" tIns="50800" rIns="50800" bIns="50800" rtlCol="0" anchor="ctr"/>
            <a:lstStyle/>
            <a:p>
              <a:pPr algn="just">
                <a:lnSpc>
                  <a:spcPts val="4479"/>
                </a:lnSpc>
                <a:spcBef>
                  <a:spcPct val="0"/>
                </a:spcBef>
              </a:pPr>
              <a:r>
                <a:rPr lang="en-US" sz="3199">
                  <a:solidFill>
                    <a:srgbClr val="3231C3"/>
                  </a:solidFill>
                  <a:latin typeface="Celandine"/>
                  <a:ea typeface="Celandine"/>
                  <a:cs typeface="Celandine"/>
                  <a:sym typeface="Celandine"/>
                </a:rPr>
                <a:t>As project director at the Indian Space Research Organisation (ISRO), he led the development of India's first indigenous satellite launch vehicle, which successfully deployed the Rohini satellite in 1980, making India a space-faring nation.</a:t>
              </a:r>
            </a:p>
          </p:txBody>
        </p:sp>
      </p:grpSp>
      <p:sp>
        <p:nvSpPr>
          <p:cNvPr id="9" name="Freeform 9"/>
          <p:cNvSpPr/>
          <p:nvPr/>
        </p:nvSpPr>
        <p:spPr>
          <a:xfrm rot="-2700000">
            <a:off x="4326771" y="-8766565"/>
            <a:ext cx="8414274" cy="8947567"/>
          </a:xfrm>
          <a:custGeom>
            <a:avLst/>
            <a:gdLst/>
            <a:ahLst/>
            <a:cxnLst/>
            <a:rect l="l" t="t" r="r" b="b"/>
            <a:pathLst>
              <a:path w="8414274" h="8947567">
                <a:moveTo>
                  <a:pt x="0" y="0"/>
                </a:moveTo>
                <a:lnTo>
                  <a:pt x="8414274" y="0"/>
                </a:lnTo>
                <a:lnTo>
                  <a:pt x="8414274" y="8947568"/>
                </a:lnTo>
                <a:lnTo>
                  <a:pt x="0" y="8947568"/>
                </a:lnTo>
                <a:lnTo>
                  <a:pt x="0" y="0"/>
                </a:lnTo>
                <a:close/>
              </a:path>
            </a:pathLst>
          </a:custGeom>
          <a:blipFill>
            <a:blip r:embed="rId3"/>
            <a:stretch>
              <a:fillRect t="-2244" b="-2244"/>
            </a:stretch>
          </a:blipFill>
        </p:spPr>
        <p:txBody>
          <a:bodyPr/>
          <a:lstStyle/>
          <a:p>
            <a:endParaRPr lang="en-US"/>
          </a:p>
        </p:txBody>
      </p:sp>
      <p:sp>
        <p:nvSpPr>
          <p:cNvPr id="10" name="Freeform 10"/>
          <p:cNvSpPr/>
          <p:nvPr/>
        </p:nvSpPr>
        <p:spPr>
          <a:xfrm>
            <a:off x="17373600" y="8767140"/>
            <a:ext cx="2916751" cy="3112652"/>
          </a:xfrm>
          <a:custGeom>
            <a:avLst/>
            <a:gdLst/>
            <a:ahLst/>
            <a:cxnLst/>
            <a:rect l="l" t="t" r="r" b="b"/>
            <a:pathLst>
              <a:path w="2916751" h="3112652">
                <a:moveTo>
                  <a:pt x="0" y="0"/>
                </a:moveTo>
                <a:lnTo>
                  <a:pt x="2916751" y="0"/>
                </a:lnTo>
                <a:lnTo>
                  <a:pt x="2916751" y="3112652"/>
                </a:lnTo>
                <a:lnTo>
                  <a:pt x="0" y="3112652"/>
                </a:lnTo>
                <a:lnTo>
                  <a:pt x="0" y="0"/>
                </a:lnTo>
                <a:close/>
              </a:path>
            </a:pathLst>
          </a:custGeom>
          <a:blipFill>
            <a:blip r:embed="rId4"/>
            <a:stretch>
              <a:fillRect/>
            </a:stretch>
          </a:blipFill>
        </p:spPr>
        <p:txBody>
          <a:bodyPr/>
          <a:lstStyle/>
          <a:p>
            <a:endParaRPr lang="en-US"/>
          </a:p>
        </p:txBody>
      </p:sp>
      <p:sp>
        <p:nvSpPr>
          <p:cNvPr id="11" name="Freeform 11"/>
          <p:cNvSpPr/>
          <p:nvPr/>
        </p:nvSpPr>
        <p:spPr>
          <a:xfrm rot="2700000">
            <a:off x="4662817" y="-1969232"/>
            <a:ext cx="1438059" cy="2075938"/>
          </a:xfrm>
          <a:custGeom>
            <a:avLst/>
            <a:gdLst/>
            <a:ahLst/>
            <a:cxnLst/>
            <a:rect l="l" t="t" r="r" b="b"/>
            <a:pathLst>
              <a:path w="1438059" h="2075938">
                <a:moveTo>
                  <a:pt x="0" y="0"/>
                </a:moveTo>
                <a:lnTo>
                  <a:pt x="1438059" y="0"/>
                </a:lnTo>
                <a:lnTo>
                  <a:pt x="1438059" y="2075938"/>
                </a:lnTo>
                <a:lnTo>
                  <a:pt x="0" y="207593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TextBox 12"/>
          <p:cNvSpPr txBox="1"/>
          <p:nvPr/>
        </p:nvSpPr>
        <p:spPr>
          <a:xfrm>
            <a:off x="17755584" y="2878445"/>
            <a:ext cx="5219764" cy="3036580"/>
          </a:xfrm>
          <a:prstGeom prst="rect">
            <a:avLst/>
          </a:prstGeom>
        </p:spPr>
        <p:txBody>
          <a:bodyPr lIns="0" tIns="0" rIns="0" bIns="0" rtlCol="0" anchor="t">
            <a:spAutoFit/>
          </a:bodyPr>
          <a:lstStyle/>
          <a:p>
            <a:pPr algn="ctr">
              <a:lnSpc>
                <a:spcPts val="12179"/>
              </a:lnSpc>
            </a:pPr>
            <a:r>
              <a:rPr lang="en-US" sz="8699">
                <a:solidFill>
                  <a:srgbClr val="FFDE59"/>
                </a:solidFill>
                <a:latin typeface="Bernoru"/>
                <a:ea typeface="Bernoru"/>
                <a:cs typeface="Bernoru"/>
                <a:sym typeface="Bernoru"/>
              </a:rPr>
              <a:t>ABDUL</a:t>
            </a:r>
          </a:p>
          <a:p>
            <a:pPr algn="ctr">
              <a:lnSpc>
                <a:spcPts val="12179"/>
              </a:lnSpc>
              <a:spcBef>
                <a:spcPct val="0"/>
              </a:spcBef>
            </a:pPr>
            <a:r>
              <a:rPr lang="en-US" sz="8699">
                <a:solidFill>
                  <a:srgbClr val="FFDE59"/>
                </a:solidFill>
                <a:latin typeface="Bernoru"/>
                <a:ea typeface="Bernoru"/>
                <a:cs typeface="Bernoru"/>
                <a:sym typeface="Bernoru"/>
              </a:rPr>
              <a:t>KALAM</a:t>
            </a:r>
          </a:p>
        </p:txBody>
      </p:sp>
      <p:sp>
        <p:nvSpPr>
          <p:cNvPr id="13" name="TextBox 13"/>
          <p:cNvSpPr txBox="1"/>
          <p:nvPr/>
        </p:nvSpPr>
        <p:spPr>
          <a:xfrm>
            <a:off x="-2359620" y="3649970"/>
            <a:ext cx="2359620" cy="1493530"/>
          </a:xfrm>
          <a:prstGeom prst="rect">
            <a:avLst/>
          </a:prstGeom>
        </p:spPr>
        <p:txBody>
          <a:bodyPr lIns="0" tIns="0" rIns="0" bIns="0" rtlCol="0" anchor="t">
            <a:spAutoFit/>
          </a:bodyPr>
          <a:lstStyle/>
          <a:p>
            <a:pPr algn="ctr">
              <a:lnSpc>
                <a:spcPts val="12179"/>
              </a:lnSpc>
              <a:spcBef>
                <a:spcPct val="0"/>
              </a:spcBef>
            </a:pPr>
            <a:r>
              <a:rPr lang="en-US" sz="8699">
                <a:solidFill>
                  <a:srgbClr val="FFDE59"/>
                </a:solidFill>
                <a:latin typeface="Bernoru"/>
                <a:ea typeface="Bernoru"/>
                <a:cs typeface="Bernoru"/>
                <a:sym typeface="Bernoru"/>
              </a:rPr>
              <a:t>APJ</a:t>
            </a:r>
          </a:p>
        </p:txBody>
      </p:sp>
      <p:sp>
        <p:nvSpPr>
          <p:cNvPr id="14" name="TextBox 14"/>
          <p:cNvSpPr txBox="1"/>
          <p:nvPr/>
        </p:nvSpPr>
        <p:spPr>
          <a:xfrm>
            <a:off x="6894292" y="895350"/>
            <a:ext cx="4326944" cy="1298432"/>
          </a:xfrm>
          <a:prstGeom prst="rect">
            <a:avLst/>
          </a:prstGeom>
        </p:spPr>
        <p:txBody>
          <a:bodyPr wrap="square" lIns="0" tIns="0" rIns="0" bIns="0" rtlCol="0" anchor="t">
            <a:spAutoFit/>
          </a:bodyPr>
          <a:lstStyle/>
          <a:p>
            <a:pPr algn="ctr">
              <a:lnSpc>
                <a:spcPts val="10499"/>
              </a:lnSpc>
              <a:spcBef>
                <a:spcPct val="0"/>
              </a:spcBef>
            </a:pPr>
            <a:r>
              <a:rPr lang="en-US" sz="7499" dirty="0">
                <a:solidFill>
                  <a:srgbClr val="FFDE59"/>
                </a:solidFill>
                <a:latin typeface="League Spartan"/>
                <a:ea typeface="League Spartan"/>
                <a:cs typeface="League Spartan"/>
                <a:sym typeface="League Spartan"/>
              </a:rPr>
              <a:t>National</a:t>
            </a:r>
          </a:p>
        </p:txBody>
      </p:sp>
      <p:grpSp>
        <p:nvGrpSpPr>
          <p:cNvPr id="15" name="Group 15"/>
          <p:cNvGrpSpPr/>
          <p:nvPr/>
        </p:nvGrpSpPr>
        <p:grpSpPr>
          <a:xfrm>
            <a:off x="16152572" y="0"/>
            <a:ext cx="2103108" cy="10249924"/>
            <a:chOff x="0" y="0"/>
            <a:chExt cx="553905" cy="2699568"/>
          </a:xfrm>
        </p:grpSpPr>
        <p:sp>
          <p:nvSpPr>
            <p:cNvPr id="16" name="Freeform 16"/>
            <p:cNvSpPr/>
            <p:nvPr/>
          </p:nvSpPr>
          <p:spPr>
            <a:xfrm>
              <a:off x="0" y="0"/>
              <a:ext cx="553905" cy="2699568"/>
            </a:xfrm>
            <a:custGeom>
              <a:avLst/>
              <a:gdLst/>
              <a:ahLst/>
              <a:cxnLst/>
              <a:rect l="l" t="t" r="r" b="b"/>
              <a:pathLst>
                <a:path w="553905" h="2699568">
                  <a:moveTo>
                    <a:pt x="0" y="0"/>
                  </a:moveTo>
                  <a:lnTo>
                    <a:pt x="553905" y="0"/>
                  </a:lnTo>
                  <a:lnTo>
                    <a:pt x="553905" y="2699568"/>
                  </a:lnTo>
                  <a:lnTo>
                    <a:pt x="0" y="2699568"/>
                  </a:lnTo>
                  <a:close/>
                </a:path>
              </a:pathLst>
            </a:custGeom>
            <a:solidFill>
              <a:srgbClr val="FFDE59"/>
            </a:solidFill>
          </p:spPr>
          <p:txBody>
            <a:bodyPr/>
            <a:lstStyle/>
            <a:p>
              <a:endParaRPr lang="en-US"/>
            </a:p>
          </p:txBody>
        </p:sp>
        <p:sp>
          <p:nvSpPr>
            <p:cNvPr id="17" name="TextBox 17"/>
            <p:cNvSpPr txBox="1"/>
            <p:nvPr/>
          </p:nvSpPr>
          <p:spPr>
            <a:xfrm>
              <a:off x="0" y="-38100"/>
              <a:ext cx="553905" cy="2737668"/>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972520" cy="10287000"/>
            <a:chOff x="0" y="0"/>
            <a:chExt cx="519511" cy="2709333"/>
          </a:xfrm>
        </p:grpSpPr>
        <p:sp>
          <p:nvSpPr>
            <p:cNvPr id="3" name="Freeform 3"/>
            <p:cNvSpPr/>
            <p:nvPr/>
          </p:nvSpPr>
          <p:spPr>
            <a:xfrm>
              <a:off x="0" y="0"/>
              <a:ext cx="519511" cy="2709333"/>
            </a:xfrm>
            <a:custGeom>
              <a:avLst/>
              <a:gdLst/>
              <a:ahLst/>
              <a:cxnLst/>
              <a:rect l="l" t="t" r="r" b="b"/>
              <a:pathLst>
                <a:path w="519511" h="2709333">
                  <a:moveTo>
                    <a:pt x="0" y="0"/>
                  </a:moveTo>
                  <a:lnTo>
                    <a:pt x="519511" y="0"/>
                  </a:lnTo>
                  <a:lnTo>
                    <a:pt x="519511" y="2709333"/>
                  </a:lnTo>
                  <a:lnTo>
                    <a:pt x="0" y="2709333"/>
                  </a:lnTo>
                  <a:close/>
                </a:path>
              </a:pathLst>
            </a:custGeom>
            <a:solidFill>
              <a:srgbClr val="FFDE59"/>
            </a:solidFill>
          </p:spPr>
          <p:txBody>
            <a:bodyPr/>
            <a:lstStyle/>
            <a:p>
              <a:endParaRPr lang="en-US"/>
            </a:p>
          </p:txBody>
        </p:sp>
        <p:sp>
          <p:nvSpPr>
            <p:cNvPr id="4" name="TextBox 4"/>
            <p:cNvSpPr txBox="1"/>
            <p:nvPr/>
          </p:nvSpPr>
          <p:spPr>
            <a:xfrm>
              <a:off x="0" y="-38100"/>
              <a:ext cx="519511" cy="27474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6396065" y="3821420"/>
            <a:ext cx="3415935" cy="3415935"/>
          </a:xfrm>
          <a:custGeom>
            <a:avLst/>
            <a:gdLst/>
            <a:ahLst/>
            <a:cxnLst/>
            <a:rect l="l" t="t" r="r" b="b"/>
            <a:pathLst>
              <a:path w="3415935" h="3415935">
                <a:moveTo>
                  <a:pt x="0" y="0"/>
                </a:moveTo>
                <a:lnTo>
                  <a:pt x="3415935" y="0"/>
                </a:lnTo>
                <a:lnTo>
                  <a:pt x="3415935" y="3415936"/>
                </a:lnTo>
                <a:lnTo>
                  <a:pt x="0" y="3415936"/>
                </a:lnTo>
                <a:lnTo>
                  <a:pt x="0" y="0"/>
                </a:lnTo>
                <a:close/>
              </a:path>
            </a:pathLst>
          </a:custGeom>
          <a:blipFill>
            <a:blip r:embed="rId3"/>
            <a:stretch>
              <a:fillRect/>
            </a:stretch>
          </a:blipFill>
        </p:spPr>
        <p:txBody>
          <a:bodyPr/>
          <a:lstStyle/>
          <a:p>
            <a:endParaRPr lang="en-US"/>
          </a:p>
        </p:txBody>
      </p:sp>
      <p:sp>
        <p:nvSpPr>
          <p:cNvPr id="6" name="Freeform 6"/>
          <p:cNvSpPr/>
          <p:nvPr/>
        </p:nvSpPr>
        <p:spPr>
          <a:xfrm>
            <a:off x="16318880" y="4151549"/>
            <a:ext cx="4016409" cy="4016409"/>
          </a:xfrm>
          <a:custGeom>
            <a:avLst/>
            <a:gdLst/>
            <a:ahLst/>
            <a:cxnLst/>
            <a:rect l="l" t="t" r="r" b="b"/>
            <a:pathLst>
              <a:path w="4016409" h="4016409">
                <a:moveTo>
                  <a:pt x="0" y="0"/>
                </a:moveTo>
                <a:lnTo>
                  <a:pt x="4016409" y="0"/>
                </a:lnTo>
                <a:lnTo>
                  <a:pt x="4016409" y="4016409"/>
                </a:lnTo>
                <a:lnTo>
                  <a:pt x="0" y="4016409"/>
                </a:lnTo>
                <a:lnTo>
                  <a:pt x="0" y="0"/>
                </a:lnTo>
                <a:close/>
              </a:path>
            </a:pathLst>
          </a:custGeom>
          <a:blipFill>
            <a:blip r:embed="rId4"/>
            <a:stretch>
              <a:fillRect/>
            </a:stretch>
          </a:blipFill>
        </p:spPr>
        <p:txBody>
          <a:bodyPr/>
          <a:lstStyle/>
          <a:p>
            <a:endParaRPr lang="en-US"/>
          </a:p>
        </p:txBody>
      </p:sp>
      <p:grpSp>
        <p:nvGrpSpPr>
          <p:cNvPr id="7" name="Group 7"/>
          <p:cNvGrpSpPr/>
          <p:nvPr/>
        </p:nvGrpSpPr>
        <p:grpSpPr>
          <a:xfrm>
            <a:off x="16184892" y="37076"/>
            <a:ext cx="2103108" cy="10249924"/>
            <a:chOff x="0" y="0"/>
            <a:chExt cx="553905" cy="2699568"/>
          </a:xfrm>
        </p:grpSpPr>
        <p:sp>
          <p:nvSpPr>
            <p:cNvPr id="8" name="Freeform 8"/>
            <p:cNvSpPr/>
            <p:nvPr/>
          </p:nvSpPr>
          <p:spPr>
            <a:xfrm>
              <a:off x="0" y="0"/>
              <a:ext cx="553905" cy="2699568"/>
            </a:xfrm>
            <a:custGeom>
              <a:avLst/>
              <a:gdLst/>
              <a:ahLst/>
              <a:cxnLst/>
              <a:rect l="l" t="t" r="r" b="b"/>
              <a:pathLst>
                <a:path w="553905" h="2699568">
                  <a:moveTo>
                    <a:pt x="0" y="0"/>
                  </a:moveTo>
                  <a:lnTo>
                    <a:pt x="553905" y="0"/>
                  </a:lnTo>
                  <a:lnTo>
                    <a:pt x="553905" y="2699568"/>
                  </a:lnTo>
                  <a:lnTo>
                    <a:pt x="0" y="2699568"/>
                  </a:lnTo>
                  <a:close/>
                </a:path>
              </a:pathLst>
            </a:custGeom>
            <a:solidFill>
              <a:srgbClr val="FFDE59"/>
            </a:solidFill>
          </p:spPr>
          <p:txBody>
            <a:bodyPr/>
            <a:lstStyle/>
            <a:p>
              <a:endParaRPr lang="en-US"/>
            </a:p>
          </p:txBody>
        </p:sp>
        <p:sp>
          <p:nvSpPr>
            <p:cNvPr id="9" name="TextBox 9"/>
            <p:cNvSpPr txBox="1"/>
            <p:nvPr/>
          </p:nvSpPr>
          <p:spPr>
            <a:xfrm>
              <a:off x="0" y="-38100"/>
              <a:ext cx="553905" cy="2737668"/>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2658251" y="3500990"/>
            <a:ext cx="8572550" cy="5317526"/>
            <a:chOff x="0" y="0"/>
            <a:chExt cx="2257791" cy="1400501"/>
          </a:xfrm>
        </p:grpSpPr>
        <p:sp>
          <p:nvSpPr>
            <p:cNvPr id="11" name="Freeform 11"/>
            <p:cNvSpPr/>
            <p:nvPr/>
          </p:nvSpPr>
          <p:spPr>
            <a:xfrm>
              <a:off x="0" y="0"/>
              <a:ext cx="2257791" cy="1400501"/>
            </a:xfrm>
            <a:custGeom>
              <a:avLst/>
              <a:gdLst/>
              <a:ahLst/>
              <a:cxnLst/>
              <a:rect l="l" t="t" r="r" b="b"/>
              <a:pathLst>
                <a:path w="2257791" h="1400501">
                  <a:moveTo>
                    <a:pt x="0" y="0"/>
                  </a:moveTo>
                  <a:lnTo>
                    <a:pt x="2257791" y="0"/>
                  </a:lnTo>
                  <a:lnTo>
                    <a:pt x="2257791" y="1400501"/>
                  </a:lnTo>
                  <a:lnTo>
                    <a:pt x="0" y="1400501"/>
                  </a:lnTo>
                  <a:close/>
                </a:path>
              </a:pathLst>
            </a:custGeom>
            <a:solidFill>
              <a:srgbClr val="FFFFFF"/>
            </a:solidFill>
          </p:spPr>
          <p:txBody>
            <a:bodyPr/>
            <a:lstStyle/>
            <a:p>
              <a:endParaRPr lang="en-US"/>
            </a:p>
          </p:txBody>
        </p:sp>
        <p:sp>
          <p:nvSpPr>
            <p:cNvPr id="12" name="TextBox 12"/>
            <p:cNvSpPr txBox="1"/>
            <p:nvPr/>
          </p:nvSpPr>
          <p:spPr>
            <a:xfrm>
              <a:off x="0" y="-57150"/>
              <a:ext cx="2257791" cy="1457651"/>
            </a:xfrm>
            <a:prstGeom prst="rect">
              <a:avLst/>
            </a:prstGeom>
          </p:spPr>
          <p:txBody>
            <a:bodyPr lIns="50800" tIns="50800" rIns="50800" bIns="50800" rtlCol="0" anchor="ctr"/>
            <a:lstStyle/>
            <a:p>
              <a:pPr algn="just">
                <a:lnSpc>
                  <a:spcPts val="3919"/>
                </a:lnSpc>
                <a:spcBef>
                  <a:spcPct val="0"/>
                </a:spcBef>
              </a:pPr>
              <a:r>
                <a:rPr lang="en-US" sz="2799">
                  <a:solidFill>
                    <a:srgbClr val="3231C3"/>
                  </a:solidFill>
                  <a:latin typeface="Celandine"/>
                  <a:ea typeface="Celandine"/>
                  <a:cs typeface="Celandine"/>
                  <a:sym typeface="Celandine"/>
                </a:rPr>
                <a:t>Dr. Kalam envisioned India's sustainable future through actionable environmentalism and energy innovation. He proposed a robust blend of renewable sources—solar, wind, tidal, geothermal, and bio-fuels—alongside reducing transmission losses and generating power from municipal waste. He championed tree plantation and a "Clean Earth" movement, emphasizing that true innovation lies in daring to think differently and transforming dreams into actions that serve humanity.</a:t>
              </a:r>
            </a:p>
          </p:txBody>
        </p:sp>
      </p:grpSp>
      <p:sp>
        <p:nvSpPr>
          <p:cNvPr id="13" name="Freeform 13"/>
          <p:cNvSpPr/>
          <p:nvPr/>
        </p:nvSpPr>
        <p:spPr>
          <a:xfrm>
            <a:off x="17373600" y="8767140"/>
            <a:ext cx="2916751" cy="3112652"/>
          </a:xfrm>
          <a:custGeom>
            <a:avLst/>
            <a:gdLst/>
            <a:ahLst/>
            <a:cxnLst/>
            <a:rect l="l" t="t" r="r" b="b"/>
            <a:pathLst>
              <a:path w="2916751" h="3112652">
                <a:moveTo>
                  <a:pt x="0" y="0"/>
                </a:moveTo>
                <a:lnTo>
                  <a:pt x="2916751" y="0"/>
                </a:lnTo>
                <a:lnTo>
                  <a:pt x="2916751" y="3112652"/>
                </a:lnTo>
                <a:lnTo>
                  <a:pt x="0" y="3112652"/>
                </a:lnTo>
                <a:lnTo>
                  <a:pt x="0" y="0"/>
                </a:lnTo>
                <a:close/>
              </a:path>
            </a:pathLst>
          </a:custGeom>
          <a:blipFill>
            <a:blip r:embed="rId5"/>
            <a:stretch>
              <a:fillRect/>
            </a:stretch>
          </a:blipFill>
        </p:spPr>
        <p:txBody>
          <a:bodyPr/>
          <a:lstStyle/>
          <a:p>
            <a:endParaRPr lang="en-US"/>
          </a:p>
        </p:txBody>
      </p:sp>
      <p:sp>
        <p:nvSpPr>
          <p:cNvPr id="14" name="Freeform 14"/>
          <p:cNvSpPr/>
          <p:nvPr/>
        </p:nvSpPr>
        <p:spPr>
          <a:xfrm>
            <a:off x="13213947" y="3821420"/>
            <a:ext cx="2258354" cy="1626015"/>
          </a:xfrm>
          <a:custGeom>
            <a:avLst/>
            <a:gdLst/>
            <a:ahLst/>
            <a:cxnLst/>
            <a:rect l="l" t="t" r="r" b="b"/>
            <a:pathLst>
              <a:path w="2258354" h="1626015">
                <a:moveTo>
                  <a:pt x="0" y="0"/>
                </a:moveTo>
                <a:lnTo>
                  <a:pt x="2258354" y="0"/>
                </a:lnTo>
                <a:lnTo>
                  <a:pt x="2258354" y="1626015"/>
                </a:lnTo>
                <a:lnTo>
                  <a:pt x="0" y="162601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5" name="Freeform 15"/>
          <p:cNvSpPr/>
          <p:nvPr/>
        </p:nvSpPr>
        <p:spPr>
          <a:xfrm>
            <a:off x="11916601" y="5275941"/>
            <a:ext cx="1961414" cy="1961414"/>
          </a:xfrm>
          <a:custGeom>
            <a:avLst/>
            <a:gdLst/>
            <a:ahLst/>
            <a:cxnLst/>
            <a:rect l="l" t="t" r="r" b="b"/>
            <a:pathLst>
              <a:path w="1961414" h="1961414">
                <a:moveTo>
                  <a:pt x="0" y="0"/>
                </a:moveTo>
                <a:lnTo>
                  <a:pt x="1961414" y="0"/>
                </a:lnTo>
                <a:lnTo>
                  <a:pt x="1961414" y="1961415"/>
                </a:lnTo>
                <a:lnTo>
                  <a:pt x="0" y="1961415"/>
                </a:lnTo>
                <a:lnTo>
                  <a:pt x="0" y="0"/>
                </a:lnTo>
                <a:close/>
              </a:path>
            </a:pathLst>
          </a:custGeom>
          <a:blipFill>
            <a:blip r:embed="rId7"/>
            <a:stretch>
              <a:fillRect/>
            </a:stretch>
          </a:blipFill>
        </p:spPr>
        <p:txBody>
          <a:bodyPr/>
          <a:lstStyle/>
          <a:p>
            <a:endParaRPr lang="en-US"/>
          </a:p>
        </p:txBody>
      </p:sp>
      <p:sp>
        <p:nvSpPr>
          <p:cNvPr id="16" name="TextBox 16"/>
          <p:cNvSpPr txBox="1"/>
          <p:nvPr/>
        </p:nvSpPr>
        <p:spPr>
          <a:xfrm>
            <a:off x="6926612" y="895350"/>
            <a:ext cx="3795058" cy="1298432"/>
          </a:xfrm>
          <a:prstGeom prst="rect">
            <a:avLst/>
          </a:prstGeom>
        </p:spPr>
        <p:txBody>
          <a:bodyPr wrap="square" lIns="0" tIns="0" rIns="0" bIns="0" rtlCol="0" anchor="t">
            <a:spAutoFit/>
          </a:bodyPr>
          <a:lstStyle/>
          <a:p>
            <a:pPr algn="ctr">
              <a:lnSpc>
                <a:spcPts val="10499"/>
              </a:lnSpc>
              <a:spcBef>
                <a:spcPct val="0"/>
              </a:spcBef>
            </a:pPr>
            <a:r>
              <a:rPr lang="en-US" sz="7499" dirty="0">
                <a:solidFill>
                  <a:srgbClr val="FFDE59"/>
                </a:solidFill>
                <a:latin typeface="League Spartan"/>
                <a:ea typeface="League Spartan"/>
                <a:cs typeface="League Spartan"/>
                <a:sym typeface="League Spartan"/>
              </a:rPr>
              <a:t>Global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a:off x="16235105" y="-263876"/>
            <a:ext cx="2048390" cy="10550876"/>
            <a:chOff x="0" y="0"/>
            <a:chExt cx="539494" cy="2778832"/>
          </a:xfrm>
        </p:grpSpPr>
        <p:sp>
          <p:nvSpPr>
            <p:cNvPr id="3" name="Freeform 3"/>
            <p:cNvSpPr/>
            <p:nvPr/>
          </p:nvSpPr>
          <p:spPr>
            <a:xfrm>
              <a:off x="0" y="0"/>
              <a:ext cx="539494" cy="2778832"/>
            </a:xfrm>
            <a:custGeom>
              <a:avLst/>
              <a:gdLst/>
              <a:ahLst/>
              <a:cxnLst/>
              <a:rect l="l" t="t" r="r" b="b"/>
              <a:pathLst>
                <a:path w="539494" h="2778832">
                  <a:moveTo>
                    <a:pt x="0" y="0"/>
                  </a:moveTo>
                  <a:lnTo>
                    <a:pt x="539494" y="0"/>
                  </a:lnTo>
                  <a:lnTo>
                    <a:pt x="539494" y="2778832"/>
                  </a:lnTo>
                  <a:lnTo>
                    <a:pt x="0" y="2778832"/>
                  </a:lnTo>
                  <a:close/>
                </a:path>
              </a:pathLst>
            </a:custGeom>
            <a:solidFill>
              <a:srgbClr val="FFDE59"/>
            </a:solidFill>
          </p:spPr>
          <p:txBody>
            <a:bodyPr/>
            <a:lstStyle/>
            <a:p>
              <a:endParaRPr lang="en-US"/>
            </a:p>
          </p:txBody>
        </p:sp>
        <p:sp>
          <p:nvSpPr>
            <p:cNvPr id="4" name="TextBox 4"/>
            <p:cNvSpPr txBox="1"/>
            <p:nvPr/>
          </p:nvSpPr>
          <p:spPr>
            <a:xfrm>
              <a:off x="0" y="-38100"/>
              <a:ext cx="539494" cy="281693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0"/>
            <a:ext cx="1972520" cy="10287000"/>
            <a:chOff x="0" y="0"/>
            <a:chExt cx="519511" cy="2709333"/>
          </a:xfrm>
        </p:grpSpPr>
        <p:sp>
          <p:nvSpPr>
            <p:cNvPr id="6" name="Freeform 6"/>
            <p:cNvSpPr/>
            <p:nvPr/>
          </p:nvSpPr>
          <p:spPr>
            <a:xfrm>
              <a:off x="0" y="0"/>
              <a:ext cx="519511" cy="2709333"/>
            </a:xfrm>
            <a:custGeom>
              <a:avLst/>
              <a:gdLst/>
              <a:ahLst/>
              <a:cxnLst/>
              <a:rect l="l" t="t" r="r" b="b"/>
              <a:pathLst>
                <a:path w="519511" h="2709333">
                  <a:moveTo>
                    <a:pt x="0" y="0"/>
                  </a:moveTo>
                  <a:lnTo>
                    <a:pt x="519511" y="0"/>
                  </a:lnTo>
                  <a:lnTo>
                    <a:pt x="519511" y="2709333"/>
                  </a:lnTo>
                  <a:lnTo>
                    <a:pt x="0" y="2709333"/>
                  </a:lnTo>
                  <a:close/>
                </a:path>
              </a:pathLst>
            </a:custGeom>
            <a:solidFill>
              <a:srgbClr val="FFDE59"/>
            </a:solidFill>
          </p:spPr>
          <p:txBody>
            <a:bodyPr/>
            <a:lstStyle/>
            <a:p>
              <a:endParaRPr lang="en-US"/>
            </a:p>
          </p:txBody>
        </p:sp>
        <p:sp>
          <p:nvSpPr>
            <p:cNvPr id="7" name="TextBox 7"/>
            <p:cNvSpPr txBox="1"/>
            <p:nvPr/>
          </p:nvSpPr>
          <p:spPr>
            <a:xfrm>
              <a:off x="0" y="-38100"/>
              <a:ext cx="519511" cy="2747433"/>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419675" y="3244551"/>
            <a:ext cx="13134064" cy="5317526"/>
            <a:chOff x="0" y="0"/>
            <a:chExt cx="3459177" cy="1400501"/>
          </a:xfrm>
        </p:grpSpPr>
        <p:sp>
          <p:nvSpPr>
            <p:cNvPr id="9" name="Freeform 9"/>
            <p:cNvSpPr/>
            <p:nvPr/>
          </p:nvSpPr>
          <p:spPr>
            <a:xfrm>
              <a:off x="0" y="0"/>
              <a:ext cx="3459177" cy="1400501"/>
            </a:xfrm>
            <a:custGeom>
              <a:avLst/>
              <a:gdLst/>
              <a:ahLst/>
              <a:cxnLst/>
              <a:rect l="l" t="t" r="r" b="b"/>
              <a:pathLst>
                <a:path w="3459177" h="1400501">
                  <a:moveTo>
                    <a:pt x="0" y="0"/>
                  </a:moveTo>
                  <a:lnTo>
                    <a:pt x="3459177" y="0"/>
                  </a:lnTo>
                  <a:lnTo>
                    <a:pt x="3459177" y="1400501"/>
                  </a:lnTo>
                  <a:lnTo>
                    <a:pt x="0" y="1400501"/>
                  </a:lnTo>
                  <a:close/>
                </a:path>
              </a:pathLst>
            </a:custGeom>
            <a:solidFill>
              <a:srgbClr val="FFFFFF"/>
            </a:solidFill>
          </p:spPr>
          <p:txBody>
            <a:bodyPr/>
            <a:lstStyle/>
            <a:p>
              <a:endParaRPr lang="en-US"/>
            </a:p>
          </p:txBody>
        </p:sp>
        <p:sp>
          <p:nvSpPr>
            <p:cNvPr id="10" name="TextBox 10"/>
            <p:cNvSpPr txBox="1"/>
            <p:nvPr/>
          </p:nvSpPr>
          <p:spPr>
            <a:xfrm>
              <a:off x="0" y="-57150"/>
              <a:ext cx="3459177" cy="1457651"/>
            </a:xfrm>
            <a:prstGeom prst="rect">
              <a:avLst/>
            </a:prstGeom>
          </p:spPr>
          <p:txBody>
            <a:bodyPr lIns="50800" tIns="50800" rIns="50800" bIns="50800" rtlCol="0" anchor="ctr"/>
            <a:lstStyle/>
            <a:p>
              <a:pPr algn="just">
                <a:lnSpc>
                  <a:spcPts val="3919"/>
                </a:lnSpc>
              </a:pPr>
              <a:r>
                <a:rPr lang="en-US" sz="2799">
                  <a:solidFill>
                    <a:srgbClr val="3231C3"/>
                  </a:solidFill>
                  <a:latin typeface="Celandine"/>
                  <a:ea typeface="Celandine"/>
                  <a:cs typeface="Celandine"/>
                  <a:sym typeface="Celandine"/>
                </a:rPr>
                <a:t>1997 – Indira Gandhi Award for National Integration </a:t>
              </a:r>
            </a:p>
            <a:p>
              <a:pPr algn="just">
                <a:lnSpc>
                  <a:spcPts val="3919"/>
                </a:lnSpc>
              </a:pPr>
              <a:r>
                <a:rPr lang="en-US" sz="2799">
                  <a:solidFill>
                    <a:srgbClr val="006B39"/>
                  </a:solidFill>
                  <a:latin typeface="Celandine"/>
                  <a:ea typeface="Celandine"/>
                  <a:cs typeface="Celandine"/>
                  <a:sym typeface="Celandine"/>
                </a:rPr>
                <a:t>1998 – Veer Savarkar Award </a:t>
              </a:r>
            </a:p>
            <a:p>
              <a:pPr algn="just">
                <a:lnSpc>
                  <a:spcPts val="3919"/>
                </a:lnSpc>
              </a:pPr>
              <a:r>
                <a:rPr lang="en-US" sz="2799">
                  <a:solidFill>
                    <a:srgbClr val="8C52FF"/>
                  </a:solidFill>
                  <a:latin typeface="Celandine"/>
                  <a:ea typeface="Celandine"/>
                  <a:cs typeface="Celandine"/>
                  <a:sym typeface="Celandine"/>
                </a:rPr>
                <a:t>2000 – Ramanujan Award </a:t>
              </a:r>
            </a:p>
            <a:p>
              <a:pPr algn="just">
                <a:lnSpc>
                  <a:spcPts val="3919"/>
                </a:lnSpc>
              </a:pPr>
              <a:r>
                <a:rPr lang="en-US" sz="2799">
                  <a:solidFill>
                    <a:srgbClr val="FF751F"/>
                  </a:solidFill>
                  <a:latin typeface="Celandine"/>
                  <a:ea typeface="Celandine"/>
                  <a:cs typeface="Celandine"/>
                  <a:sym typeface="Celandine"/>
                </a:rPr>
                <a:t>2007 – King Charles II Medal (Royal Society, UK </a:t>
              </a:r>
            </a:p>
            <a:p>
              <a:pPr algn="just">
                <a:lnSpc>
                  <a:spcPts val="3919"/>
                </a:lnSpc>
              </a:pPr>
              <a:r>
                <a:rPr lang="en-US" sz="2799">
                  <a:solidFill>
                    <a:srgbClr val="5CE1E6"/>
                  </a:solidFill>
                  <a:latin typeface="Celandine"/>
                  <a:ea typeface="Celandine"/>
                  <a:cs typeface="Celandine"/>
                  <a:sym typeface="Celandine"/>
                </a:rPr>
                <a:t>2007 – Hoover Medal (ASME Foundation, USA) </a:t>
              </a:r>
            </a:p>
            <a:p>
              <a:pPr algn="just">
                <a:lnSpc>
                  <a:spcPts val="3919"/>
                </a:lnSpc>
              </a:pPr>
              <a:r>
                <a:rPr lang="en-US" sz="2799">
                  <a:solidFill>
                    <a:srgbClr val="00BF63"/>
                  </a:solidFill>
                  <a:latin typeface="Celandine"/>
                  <a:ea typeface="Celandine"/>
                  <a:cs typeface="Celandine"/>
                  <a:sym typeface="Celandine"/>
                </a:rPr>
                <a:t>2008 – Doctor of Science (Honoris Causa) – Aligarh Muslim University</a:t>
              </a:r>
            </a:p>
            <a:p>
              <a:pPr algn="just">
                <a:lnSpc>
                  <a:spcPts val="3919"/>
                </a:lnSpc>
              </a:pPr>
              <a:r>
                <a:rPr lang="en-US" sz="2799">
                  <a:solidFill>
                    <a:srgbClr val="0097B2"/>
                  </a:solidFill>
                  <a:latin typeface="Celandine"/>
                  <a:ea typeface="Celandine"/>
                  <a:cs typeface="Celandine"/>
                  <a:sym typeface="Celandine"/>
                </a:rPr>
                <a:t>2009 – Honorary Doctorate – Oakland University, USA  </a:t>
              </a:r>
            </a:p>
            <a:p>
              <a:pPr algn="just">
                <a:lnSpc>
                  <a:spcPts val="3919"/>
                </a:lnSpc>
              </a:pPr>
              <a:r>
                <a:rPr lang="en-US" sz="2799">
                  <a:solidFill>
                    <a:srgbClr val="FFDE59"/>
                  </a:solidFill>
                  <a:latin typeface="Celandine"/>
                  <a:ea typeface="Celandine"/>
                  <a:cs typeface="Celandine"/>
                  <a:sym typeface="Celandine"/>
                </a:rPr>
                <a:t>2011 – IEEE Honorary Membership </a:t>
              </a:r>
            </a:p>
            <a:p>
              <a:pPr algn="just">
                <a:lnSpc>
                  <a:spcPts val="3919"/>
                </a:lnSpc>
              </a:pPr>
              <a:r>
                <a:rPr lang="en-US" sz="2799">
                  <a:solidFill>
                    <a:srgbClr val="CB6CE6"/>
                  </a:solidFill>
                  <a:latin typeface="Celandine"/>
                  <a:ea typeface="Celandine"/>
                  <a:cs typeface="Celandine"/>
                  <a:sym typeface="Celandine"/>
                </a:rPr>
                <a:t>2012 – Doctor of Law (Honoris Causa) – Simon Fraser University, Canada</a:t>
              </a:r>
            </a:p>
            <a:p>
              <a:pPr algn="just">
                <a:lnSpc>
                  <a:spcPts val="3919"/>
                </a:lnSpc>
                <a:spcBef>
                  <a:spcPct val="0"/>
                </a:spcBef>
              </a:pPr>
              <a:endParaRPr lang="en-US" sz="2799">
                <a:solidFill>
                  <a:srgbClr val="CB6CE6"/>
                </a:solidFill>
                <a:latin typeface="Celandine"/>
                <a:ea typeface="Celandine"/>
                <a:cs typeface="Celandine"/>
                <a:sym typeface="Celandine"/>
              </a:endParaRPr>
            </a:p>
          </p:txBody>
        </p:sp>
      </p:grpSp>
      <p:sp>
        <p:nvSpPr>
          <p:cNvPr id="11" name="TextBox 11"/>
          <p:cNvSpPr txBox="1"/>
          <p:nvPr/>
        </p:nvSpPr>
        <p:spPr>
          <a:xfrm>
            <a:off x="7119978" y="895350"/>
            <a:ext cx="4081421" cy="1298432"/>
          </a:xfrm>
          <a:prstGeom prst="rect">
            <a:avLst/>
          </a:prstGeom>
        </p:spPr>
        <p:txBody>
          <a:bodyPr wrap="square" lIns="0" tIns="0" rIns="0" bIns="0" rtlCol="0" anchor="t">
            <a:spAutoFit/>
          </a:bodyPr>
          <a:lstStyle/>
          <a:p>
            <a:pPr algn="ctr">
              <a:lnSpc>
                <a:spcPts val="10499"/>
              </a:lnSpc>
              <a:spcBef>
                <a:spcPct val="0"/>
              </a:spcBef>
            </a:pPr>
            <a:r>
              <a:rPr lang="en-US" sz="7499" dirty="0">
                <a:solidFill>
                  <a:srgbClr val="FFDE59"/>
                </a:solidFill>
                <a:latin typeface="League Spartan"/>
                <a:ea typeface="League Spartan"/>
                <a:cs typeface="League Spartan"/>
                <a:sym typeface="League Spartan"/>
              </a:rPr>
              <a:t>Awards</a:t>
            </a: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a:off x="16235105" y="-263876"/>
            <a:ext cx="2048390" cy="10550876"/>
            <a:chOff x="0" y="0"/>
            <a:chExt cx="539494" cy="2778832"/>
          </a:xfrm>
        </p:grpSpPr>
        <p:sp>
          <p:nvSpPr>
            <p:cNvPr id="3" name="Freeform 3"/>
            <p:cNvSpPr/>
            <p:nvPr/>
          </p:nvSpPr>
          <p:spPr>
            <a:xfrm>
              <a:off x="0" y="0"/>
              <a:ext cx="539494" cy="2778832"/>
            </a:xfrm>
            <a:custGeom>
              <a:avLst/>
              <a:gdLst/>
              <a:ahLst/>
              <a:cxnLst/>
              <a:rect l="l" t="t" r="r" b="b"/>
              <a:pathLst>
                <a:path w="539494" h="2778832">
                  <a:moveTo>
                    <a:pt x="0" y="0"/>
                  </a:moveTo>
                  <a:lnTo>
                    <a:pt x="539494" y="0"/>
                  </a:lnTo>
                  <a:lnTo>
                    <a:pt x="539494" y="2778832"/>
                  </a:lnTo>
                  <a:lnTo>
                    <a:pt x="0" y="2778832"/>
                  </a:lnTo>
                  <a:close/>
                </a:path>
              </a:pathLst>
            </a:custGeom>
            <a:solidFill>
              <a:srgbClr val="FFDE59"/>
            </a:solidFill>
          </p:spPr>
          <p:txBody>
            <a:bodyPr/>
            <a:lstStyle/>
            <a:p>
              <a:endParaRPr lang="en-US"/>
            </a:p>
          </p:txBody>
        </p:sp>
        <p:sp>
          <p:nvSpPr>
            <p:cNvPr id="4" name="TextBox 4"/>
            <p:cNvSpPr txBox="1"/>
            <p:nvPr/>
          </p:nvSpPr>
          <p:spPr>
            <a:xfrm>
              <a:off x="0" y="-38100"/>
              <a:ext cx="539494" cy="281693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0"/>
            <a:ext cx="1972520" cy="10287000"/>
            <a:chOff x="0" y="0"/>
            <a:chExt cx="519511" cy="2709333"/>
          </a:xfrm>
        </p:grpSpPr>
        <p:sp>
          <p:nvSpPr>
            <p:cNvPr id="6" name="Freeform 6"/>
            <p:cNvSpPr/>
            <p:nvPr/>
          </p:nvSpPr>
          <p:spPr>
            <a:xfrm>
              <a:off x="0" y="0"/>
              <a:ext cx="519511" cy="2709333"/>
            </a:xfrm>
            <a:custGeom>
              <a:avLst/>
              <a:gdLst/>
              <a:ahLst/>
              <a:cxnLst/>
              <a:rect l="l" t="t" r="r" b="b"/>
              <a:pathLst>
                <a:path w="519511" h="2709333">
                  <a:moveTo>
                    <a:pt x="0" y="0"/>
                  </a:moveTo>
                  <a:lnTo>
                    <a:pt x="519511" y="0"/>
                  </a:lnTo>
                  <a:lnTo>
                    <a:pt x="519511" y="2709333"/>
                  </a:lnTo>
                  <a:lnTo>
                    <a:pt x="0" y="2709333"/>
                  </a:lnTo>
                  <a:close/>
                </a:path>
              </a:pathLst>
            </a:custGeom>
            <a:solidFill>
              <a:srgbClr val="FFDE59"/>
            </a:solidFill>
          </p:spPr>
          <p:txBody>
            <a:bodyPr/>
            <a:lstStyle/>
            <a:p>
              <a:endParaRPr lang="en-US"/>
            </a:p>
          </p:txBody>
        </p:sp>
        <p:sp>
          <p:nvSpPr>
            <p:cNvPr id="7" name="TextBox 7"/>
            <p:cNvSpPr txBox="1"/>
            <p:nvPr/>
          </p:nvSpPr>
          <p:spPr>
            <a:xfrm>
              <a:off x="0" y="-38100"/>
              <a:ext cx="519511" cy="2747433"/>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419675" y="2413481"/>
            <a:ext cx="13444853" cy="2129687"/>
            <a:chOff x="0" y="0"/>
            <a:chExt cx="3541031" cy="560905"/>
          </a:xfrm>
        </p:grpSpPr>
        <p:sp>
          <p:nvSpPr>
            <p:cNvPr id="9" name="Freeform 9"/>
            <p:cNvSpPr/>
            <p:nvPr/>
          </p:nvSpPr>
          <p:spPr>
            <a:xfrm>
              <a:off x="0" y="0"/>
              <a:ext cx="3541031" cy="560905"/>
            </a:xfrm>
            <a:custGeom>
              <a:avLst/>
              <a:gdLst/>
              <a:ahLst/>
              <a:cxnLst/>
              <a:rect l="l" t="t" r="r" b="b"/>
              <a:pathLst>
                <a:path w="3541031" h="560905">
                  <a:moveTo>
                    <a:pt x="0" y="0"/>
                  </a:moveTo>
                  <a:lnTo>
                    <a:pt x="3541031" y="0"/>
                  </a:lnTo>
                  <a:lnTo>
                    <a:pt x="3541031" y="560905"/>
                  </a:lnTo>
                  <a:lnTo>
                    <a:pt x="0" y="560905"/>
                  </a:lnTo>
                  <a:close/>
                </a:path>
              </a:pathLst>
            </a:custGeom>
            <a:solidFill>
              <a:srgbClr val="FFFFFF"/>
            </a:solidFill>
          </p:spPr>
          <p:txBody>
            <a:bodyPr/>
            <a:lstStyle/>
            <a:p>
              <a:endParaRPr lang="en-US"/>
            </a:p>
          </p:txBody>
        </p:sp>
        <p:sp>
          <p:nvSpPr>
            <p:cNvPr id="10" name="TextBox 10"/>
            <p:cNvSpPr txBox="1"/>
            <p:nvPr/>
          </p:nvSpPr>
          <p:spPr>
            <a:xfrm>
              <a:off x="0" y="-57150"/>
              <a:ext cx="3541031" cy="618055"/>
            </a:xfrm>
            <a:prstGeom prst="rect">
              <a:avLst/>
            </a:prstGeom>
          </p:spPr>
          <p:txBody>
            <a:bodyPr lIns="50800" tIns="50800" rIns="50800" bIns="50800" rtlCol="0" anchor="ctr"/>
            <a:lstStyle/>
            <a:p>
              <a:pPr algn="just">
                <a:lnSpc>
                  <a:spcPts val="3919"/>
                </a:lnSpc>
                <a:spcBef>
                  <a:spcPct val="0"/>
                </a:spcBef>
              </a:pPr>
              <a:r>
                <a:rPr lang="en-US" sz="2799">
                  <a:solidFill>
                    <a:srgbClr val="3231C3"/>
                  </a:solidFill>
                  <a:latin typeface="Celandine"/>
                  <a:ea typeface="Celandine"/>
                  <a:cs typeface="Celandine"/>
                  <a:sym typeface="Celandine"/>
                </a:rPr>
                <a:t>In the early 2000s, rural areas in India—particularly in states like Tamil Nadu and Maharashtra—had limited access to primary healthcare, especially for non-communicable diseases.</a:t>
              </a:r>
            </a:p>
          </p:txBody>
        </p:sp>
      </p:grpSp>
      <p:grpSp>
        <p:nvGrpSpPr>
          <p:cNvPr id="11" name="Group 11"/>
          <p:cNvGrpSpPr/>
          <p:nvPr/>
        </p:nvGrpSpPr>
        <p:grpSpPr>
          <a:xfrm>
            <a:off x="2381386" y="5203972"/>
            <a:ext cx="13444853" cy="2129687"/>
            <a:chOff x="0" y="0"/>
            <a:chExt cx="3541031" cy="560905"/>
          </a:xfrm>
        </p:grpSpPr>
        <p:sp>
          <p:nvSpPr>
            <p:cNvPr id="12" name="Freeform 12"/>
            <p:cNvSpPr/>
            <p:nvPr/>
          </p:nvSpPr>
          <p:spPr>
            <a:xfrm>
              <a:off x="0" y="0"/>
              <a:ext cx="3541031" cy="560905"/>
            </a:xfrm>
            <a:custGeom>
              <a:avLst/>
              <a:gdLst/>
              <a:ahLst/>
              <a:cxnLst/>
              <a:rect l="l" t="t" r="r" b="b"/>
              <a:pathLst>
                <a:path w="3541031" h="560905">
                  <a:moveTo>
                    <a:pt x="0" y="0"/>
                  </a:moveTo>
                  <a:lnTo>
                    <a:pt x="3541031" y="0"/>
                  </a:lnTo>
                  <a:lnTo>
                    <a:pt x="3541031" y="560905"/>
                  </a:lnTo>
                  <a:lnTo>
                    <a:pt x="0" y="560905"/>
                  </a:lnTo>
                  <a:close/>
                </a:path>
              </a:pathLst>
            </a:custGeom>
            <a:solidFill>
              <a:srgbClr val="FFFFFF"/>
            </a:solidFill>
          </p:spPr>
          <p:txBody>
            <a:bodyPr/>
            <a:lstStyle/>
            <a:p>
              <a:endParaRPr lang="en-US"/>
            </a:p>
          </p:txBody>
        </p:sp>
        <p:sp>
          <p:nvSpPr>
            <p:cNvPr id="13" name="TextBox 13"/>
            <p:cNvSpPr txBox="1"/>
            <p:nvPr/>
          </p:nvSpPr>
          <p:spPr>
            <a:xfrm>
              <a:off x="0" y="-57150"/>
              <a:ext cx="3541031" cy="618055"/>
            </a:xfrm>
            <a:prstGeom prst="rect">
              <a:avLst/>
            </a:prstGeom>
          </p:spPr>
          <p:txBody>
            <a:bodyPr lIns="50800" tIns="50800" rIns="50800" bIns="50800" rtlCol="0" anchor="ctr"/>
            <a:lstStyle/>
            <a:p>
              <a:pPr algn="just">
                <a:lnSpc>
                  <a:spcPts val="3919"/>
                </a:lnSpc>
                <a:spcBef>
                  <a:spcPct val="0"/>
                </a:spcBef>
              </a:pPr>
              <a:r>
                <a:rPr lang="en-US" sz="2799">
                  <a:solidFill>
                    <a:srgbClr val="3231C3"/>
                  </a:solidFill>
                  <a:latin typeface="Celandine"/>
                  <a:ea typeface="Celandine"/>
                  <a:cs typeface="Celandine"/>
                  <a:sym typeface="Celandine"/>
                </a:rPr>
                <a:t>After his presidency, Dr. Kalam collaborated with healthcare organizations to launch the Providing Urban Amenities to Rural Areas (PURA) model. One notable initiative was working with Rameswaram’s local communities to establish a telemedicine network connecting rural clinics to specialty hospitals in cities.</a:t>
              </a:r>
            </a:p>
          </p:txBody>
        </p:sp>
      </p:grpSp>
      <p:grpSp>
        <p:nvGrpSpPr>
          <p:cNvPr id="14" name="Group 14"/>
          <p:cNvGrpSpPr/>
          <p:nvPr/>
        </p:nvGrpSpPr>
        <p:grpSpPr>
          <a:xfrm>
            <a:off x="2364321" y="8013976"/>
            <a:ext cx="13444853" cy="2129687"/>
            <a:chOff x="0" y="0"/>
            <a:chExt cx="3541031" cy="560905"/>
          </a:xfrm>
        </p:grpSpPr>
        <p:sp>
          <p:nvSpPr>
            <p:cNvPr id="15" name="Freeform 15"/>
            <p:cNvSpPr/>
            <p:nvPr/>
          </p:nvSpPr>
          <p:spPr>
            <a:xfrm>
              <a:off x="0" y="0"/>
              <a:ext cx="3541031" cy="560905"/>
            </a:xfrm>
            <a:custGeom>
              <a:avLst/>
              <a:gdLst/>
              <a:ahLst/>
              <a:cxnLst/>
              <a:rect l="l" t="t" r="r" b="b"/>
              <a:pathLst>
                <a:path w="3541031" h="560905">
                  <a:moveTo>
                    <a:pt x="0" y="0"/>
                  </a:moveTo>
                  <a:lnTo>
                    <a:pt x="3541031" y="0"/>
                  </a:lnTo>
                  <a:lnTo>
                    <a:pt x="3541031" y="560905"/>
                  </a:lnTo>
                  <a:lnTo>
                    <a:pt x="0" y="560905"/>
                  </a:lnTo>
                  <a:close/>
                </a:path>
              </a:pathLst>
            </a:custGeom>
            <a:solidFill>
              <a:srgbClr val="FFFFFF"/>
            </a:solidFill>
          </p:spPr>
          <p:txBody>
            <a:bodyPr/>
            <a:lstStyle/>
            <a:p>
              <a:endParaRPr lang="en-US"/>
            </a:p>
          </p:txBody>
        </p:sp>
        <p:sp>
          <p:nvSpPr>
            <p:cNvPr id="16" name="TextBox 16"/>
            <p:cNvSpPr txBox="1"/>
            <p:nvPr/>
          </p:nvSpPr>
          <p:spPr>
            <a:xfrm>
              <a:off x="0" y="-57150"/>
              <a:ext cx="3541031" cy="618055"/>
            </a:xfrm>
            <a:prstGeom prst="rect">
              <a:avLst/>
            </a:prstGeom>
          </p:spPr>
          <p:txBody>
            <a:bodyPr lIns="50800" tIns="50800" rIns="50800" bIns="50800" rtlCol="0" anchor="ctr"/>
            <a:lstStyle/>
            <a:p>
              <a:pPr marL="604515" lvl="1" indent="-302257" algn="just">
                <a:lnSpc>
                  <a:spcPts val="3919"/>
                </a:lnSpc>
                <a:buFont typeface="Arial"/>
                <a:buChar char="•"/>
              </a:pPr>
              <a:r>
                <a:rPr lang="en-US" sz="2799">
                  <a:solidFill>
                    <a:srgbClr val="3231C3"/>
                  </a:solidFill>
                  <a:latin typeface="Celandine"/>
                  <a:ea typeface="Celandine"/>
                  <a:cs typeface="Celandine"/>
                  <a:sym typeface="Celandine"/>
                </a:rPr>
                <a:t>Enabled remote diagnosis for villagers in his hometown region</a:t>
              </a:r>
            </a:p>
            <a:p>
              <a:pPr marL="604515" lvl="1" indent="-302257" algn="just">
                <a:lnSpc>
                  <a:spcPts val="3919"/>
                </a:lnSpc>
                <a:buFont typeface="Arial"/>
                <a:buChar char="•"/>
              </a:pPr>
              <a:r>
                <a:rPr lang="en-US" sz="2799">
                  <a:solidFill>
                    <a:srgbClr val="3231C3"/>
                  </a:solidFill>
                  <a:latin typeface="Celandine"/>
                  <a:ea typeface="Celandine"/>
                  <a:cs typeface="Celandine"/>
                  <a:sym typeface="Celandine"/>
                </a:rPr>
                <a:t>Created a replicable model for rural healthcare connectivity</a:t>
              </a:r>
            </a:p>
            <a:p>
              <a:pPr marL="604515" lvl="1" indent="-302257" algn="just">
                <a:lnSpc>
                  <a:spcPts val="3919"/>
                </a:lnSpc>
                <a:spcBef>
                  <a:spcPct val="0"/>
                </a:spcBef>
                <a:buFont typeface="Arial"/>
                <a:buChar char="•"/>
              </a:pPr>
              <a:r>
                <a:rPr lang="en-US" sz="2799">
                  <a:solidFill>
                    <a:srgbClr val="3231C3"/>
                  </a:solidFill>
                  <a:latin typeface="Celandine"/>
                  <a:ea typeface="Celandine"/>
                  <a:cs typeface="Celandine"/>
                  <a:sym typeface="Celandine"/>
                </a:rPr>
                <a:t>Inspired programs like Kalam Vision India Foundation to continue similar grassroots healthcare projects</a:t>
              </a:r>
            </a:p>
          </p:txBody>
        </p:sp>
      </p:grpSp>
      <p:sp>
        <p:nvSpPr>
          <p:cNvPr id="17" name="Freeform 17"/>
          <p:cNvSpPr/>
          <p:nvPr/>
        </p:nvSpPr>
        <p:spPr>
          <a:xfrm>
            <a:off x="16515744" y="8241371"/>
            <a:ext cx="1487111" cy="1674896"/>
          </a:xfrm>
          <a:custGeom>
            <a:avLst/>
            <a:gdLst/>
            <a:ahLst/>
            <a:cxnLst/>
            <a:rect l="l" t="t" r="r" b="b"/>
            <a:pathLst>
              <a:path w="1487111" h="1674896">
                <a:moveTo>
                  <a:pt x="0" y="0"/>
                </a:moveTo>
                <a:lnTo>
                  <a:pt x="1487112" y="0"/>
                </a:lnTo>
                <a:lnTo>
                  <a:pt x="1487112" y="1674897"/>
                </a:lnTo>
                <a:lnTo>
                  <a:pt x="0" y="1674897"/>
                </a:lnTo>
                <a:lnTo>
                  <a:pt x="0" y="0"/>
                </a:lnTo>
                <a:close/>
              </a:path>
            </a:pathLst>
          </a:custGeom>
          <a:blipFill>
            <a:blip r:embed="rId2"/>
            <a:stretch>
              <a:fillRect l="-12627"/>
            </a:stretch>
          </a:blipFill>
        </p:spPr>
        <p:txBody>
          <a:bodyPr/>
          <a:lstStyle/>
          <a:p>
            <a:endParaRPr lang="en-US"/>
          </a:p>
        </p:txBody>
      </p:sp>
      <p:sp>
        <p:nvSpPr>
          <p:cNvPr id="18" name="Freeform 18"/>
          <p:cNvSpPr/>
          <p:nvPr/>
        </p:nvSpPr>
        <p:spPr>
          <a:xfrm>
            <a:off x="16484963" y="2800792"/>
            <a:ext cx="1517892" cy="1355064"/>
          </a:xfrm>
          <a:custGeom>
            <a:avLst/>
            <a:gdLst/>
            <a:ahLst/>
            <a:cxnLst/>
            <a:rect l="l" t="t" r="r" b="b"/>
            <a:pathLst>
              <a:path w="1517892" h="1355064">
                <a:moveTo>
                  <a:pt x="0" y="0"/>
                </a:moveTo>
                <a:lnTo>
                  <a:pt x="1517893" y="0"/>
                </a:lnTo>
                <a:lnTo>
                  <a:pt x="1517893" y="1355064"/>
                </a:lnTo>
                <a:lnTo>
                  <a:pt x="0" y="135506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16860072" y="3778062"/>
            <a:ext cx="446853" cy="377794"/>
          </a:xfrm>
          <a:custGeom>
            <a:avLst/>
            <a:gdLst/>
            <a:ahLst/>
            <a:cxnLst/>
            <a:rect l="l" t="t" r="r" b="b"/>
            <a:pathLst>
              <a:path w="446853" h="377794">
                <a:moveTo>
                  <a:pt x="0" y="0"/>
                </a:moveTo>
                <a:lnTo>
                  <a:pt x="446853" y="0"/>
                </a:lnTo>
                <a:lnTo>
                  <a:pt x="446853" y="377794"/>
                </a:lnTo>
                <a:lnTo>
                  <a:pt x="0" y="377794"/>
                </a:lnTo>
                <a:lnTo>
                  <a:pt x="0" y="0"/>
                </a:lnTo>
                <a:close/>
              </a:path>
            </a:pathLst>
          </a:custGeom>
          <a:blipFill>
            <a:blip r:embed="rId4"/>
            <a:stretch>
              <a:fillRect/>
            </a:stretch>
          </a:blipFill>
        </p:spPr>
        <p:txBody>
          <a:bodyPr/>
          <a:lstStyle/>
          <a:p>
            <a:endParaRPr lang="en-US"/>
          </a:p>
        </p:txBody>
      </p:sp>
      <p:sp>
        <p:nvSpPr>
          <p:cNvPr id="20" name="TextBox 20"/>
          <p:cNvSpPr txBox="1"/>
          <p:nvPr/>
        </p:nvSpPr>
        <p:spPr>
          <a:xfrm>
            <a:off x="2692822" y="-63819"/>
            <a:ext cx="12902357" cy="2075568"/>
          </a:xfrm>
          <a:prstGeom prst="rect">
            <a:avLst/>
          </a:prstGeom>
        </p:spPr>
        <p:txBody>
          <a:bodyPr lIns="0" tIns="0" rIns="0" bIns="0" rtlCol="0" anchor="t">
            <a:spAutoFit/>
          </a:bodyPr>
          <a:lstStyle/>
          <a:p>
            <a:pPr algn="ctr">
              <a:lnSpc>
                <a:spcPts val="10499"/>
              </a:lnSpc>
            </a:pPr>
            <a:r>
              <a:rPr lang="en-US" sz="7200" dirty="0">
                <a:solidFill>
                  <a:srgbClr val="FFDE59"/>
                </a:solidFill>
                <a:latin typeface="League Spartan"/>
                <a:ea typeface="League Spartan"/>
                <a:cs typeface="League Spartan"/>
                <a:sym typeface="League Spartan"/>
              </a:rPr>
              <a:t>Problems-Solution-Impact</a:t>
            </a:r>
          </a:p>
          <a:p>
            <a:pPr algn="ctr">
              <a:lnSpc>
                <a:spcPts val="5879"/>
              </a:lnSpc>
              <a:spcBef>
                <a:spcPct val="0"/>
              </a:spcBef>
            </a:pPr>
            <a:r>
              <a:rPr lang="en-US" sz="4000" dirty="0">
                <a:solidFill>
                  <a:srgbClr val="2E266D"/>
                </a:solidFill>
                <a:latin typeface="League Spartan"/>
                <a:ea typeface="League Spartan"/>
                <a:cs typeface="League Spartan"/>
                <a:sym typeface="League Spartan"/>
              </a:rPr>
              <a:t>Local</a:t>
            </a:r>
          </a:p>
        </p:txBody>
      </p:sp>
      <p:sp>
        <p:nvSpPr>
          <p:cNvPr id="21" name="TextBox 21"/>
          <p:cNvSpPr txBox="1"/>
          <p:nvPr/>
        </p:nvSpPr>
        <p:spPr>
          <a:xfrm>
            <a:off x="2419675" y="1740219"/>
            <a:ext cx="2609525" cy="729046"/>
          </a:xfrm>
          <a:prstGeom prst="rect">
            <a:avLst/>
          </a:prstGeom>
        </p:spPr>
        <p:txBody>
          <a:bodyPr wrap="square" lIns="0" tIns="0" rIns="0" bIns="0" rtlCol="0" anchor="t">
            <a:spAutoFit/>
          </a:bodyPr>
          <a:lstStyle/>
          <a:p>
            <a:pPr algn="ctr">
              <a:lnSpc>
                <a:spcPts val="5879"/>
              </a:lnSpc>
              <a:spcBef>
                <a:spcPct val="0"/>
              </a:spcBef>
            </a:pPr>
            <a:r>
              <a:rPr lang="en-US" sz="4199" dirty="0">
                <a:solidFill>
                  <a:srgbClr val="FFDE59"/>
                </a:solidFill>
                <a:latin typeface="League Spartan"/>
                <a:ea typeface="League Spartan"/>
                <a:cs typeface="League Spartan"/>
                <a:sym typeface="League Spartan"/>
              </a:rPr>
              <a:t>Problem</a:t>
            </a:r>
          </a:p>
        </p:txBody>
      </p:sp>
      <p:sp>
        <p:nvSpPr>
          <p:cNvPr id="22" name="TextBox 22"/>
          <p:cNvSpPr txBox="1"/>
          <p:nvPr/>
        </p:nvSpPr>
        <p:spPr>
          <a:xfrm>
            <a:off x="2364321" y="4534197"/>
            <a:ext cx="2664879" cy="721997"/>
          </a:xfrm>
          <a:prstGeom prst="rect">
            <a:avLst/>
          </a:prstGeom>
        </p:spPr>
        <p:txBody>
          <a:bodyPr wrap="square" lIns="0" tIns="0" rIns="0" bIns="0" rtlCol="0" anchor="t">
            <a:spAutoFit/>
          </a:bodyPr>
          <a:lstStyle/>
          <a:p>
            <a:pPr algn="ctr">
              <a:lnSpc>
                <a:spcPts val="5879"/>
              </a:lnSpc>
              <a:spcBef>
                <a:spcPct val="0"/>
              </a:spcBef>
            </a:pPr>
            <a:r>
              <a:rPr lang="en-US" sz="4199" dirty="0">
                <a:solidFill>
                  <a:srgbClr val="FFDE59"/>
                </a:solidFill>
                <a:latin typeface="League Spartan"/>
                <a:ea typeface="League Spartan"/>
                <a:cs typeface="League Spartan"/>
                <a:sym typeface="League Spartan"/>
              </a:rPr>
              <a:t>Solution</a:t>
            </a:r>
          </a:p>
        </p:txBody>
      </p:sp>
      <p:sp>
        <p:nvSpPr>
          <p:cNvPr id="23" name="TextBox 23"/>
          <p:cNvSpPr txBox="1"/>
          <p:nvPr/>
        </p:nvSpPr>
        <p:spPr>
          <a:xfrm>
            <a:off x="2364321" y="7328176"/>
            <a:ext cx="2048390" cy="721997"/>
          </a:xfrm>
          <a:prstGeom prst="rect">
            <a:avLst/>
          </a:prstGeom>
        </p:spPr>
        <p:txBody>
          <a:bodyPr wrap="square" lIns="0" tIns="0" rIns="0" bIns="0" rtlCol="0" anchor="t">
            <a:spAutoFit/>
          </a:bodyPr>
          <a:lstStyle/>
          <a:p>
            <a:pPr algn="ctr">
              <a:lnSpc>
                <a:spcPts val="5879"/>
              </a:lnSpc>
              <a:spcBef>
                <a:spcPct val="0"/>
              </a:spcBef>
            </a:pPr>
            <a:r>
              <a:rPr lang="en-US" sz="4199" dirty="0">
                <a:solidFill>
                  <a:srgbClr val="FFDE59"/>
                </a:solidFill>
                <a:latin typeface="League Spartan"/>
                <a:ea typeface="League Spartan"/>
                <a:cs typeface="League Spartan"/>
                <a:sym typeface="League Spartan"/>
              </a:rPr>
              <a:t>Impact</a:t>
            </a:r>
          </a:p>
        </p:txBody>
      </p:sp>
    </p:spTree>
  </p:cSld>
  <p:clrMapOvr>
    <a:masterClrMapping/>
  </p:clrMapOvr>
  <p:transition spd="slow">
    <p:push dir="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a:off x="16235105" y="-263876"/>
            <a:ext cx="2048390" cy="10550876"/>
            <a:chOff x="0" y="0"/>
            <a:chExt cx="539494" cy="2778832"/>
          </a:xfrm>
        </p:grpSpPr>
        <p:sp>
          <p:nvSpPr>
            <p:cNvPr id="3" name="Freeform 3"/>
            <p:cNvSpPr/>
            <p:nvPr/>
          </p:nvSpPr>
          <p:spPr>
            <a:xfrm>
              <a:off x="0" y="0"/>
              <a:ext cx="539494" cy="2778832"/>
            </a:xfrm>
            <a:custGeom>
              <a:avLst/>
              <a:gdLst/>
              <a:ahLst/>
              <a:cxnLst/>
              <a:rect l="l" t="t" r="r" b="b"/>
              <a:pathLst>
                <a:path w="539494" h="2778832">
                  <a:moveTo>
                    <a:pt x="0" y="0"/>
                  </a:moveTo>
                  <a:lnTo>
                    <a:pt x="539494" y="0"/>
                  </a:lnTo>
                  <a:lnTo>
                    <a:pt x="539494" y="2778832"/>
                  </a:lnTo>
                  <a:lnTo>
                    <a:pt x="0" y="2778832"/>
                  </a:lnTo>
                  <a:close/>
                </a:path>
              </a:pathLst>
            </a:custGeom>
            <a:solidFill>
              <a:srgbClr val="FFDE59"/>
            </a:solidFill>
          </p:spPr>
          <p:txBody>
            <a:bodyPr/>
            <a:lstStyle/>
            <a:p>
              <a:endParaRPr lang="en-US"/>
            </a:p>
          </p:txBody>
        </p:sp>
        <p:sp>
          <p:nvSpPr>
            <p:cNvPr id="4" name="TextBox 4"/>
            <p:cNvSpPr txBox="1"/>
            <p:nvPr/>
          </p:nvSpPr>
          <p:spPr>
            <a:xfrm>
              <a:off x="0" y="-38100"/>
              <a:ext cx="539494" cy="281693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0"/>
            <a:ext cx="1972520" cy="10287000"/>
            <a:chOff x="0" y="0"/>
            <a:chExt cx="519511" cy="2709333"/>
          </a:xfrm>
        </p:grpSpPr>
        <p:sp>
          <p:nvSpPr>
            <p:cNvPr id="6" name="Freeform 6"/>
            <p:cNvSpPr/>
            <p:nvPr/>
          </p:nvSpPr>
          <p:spPr>
            <a:xfrm>
              <a:off x="0" y="0"/>
              <a:ext cx="519511" cy="2709333"/>
            </a:xfrm>
            <a:custGeom>
              <a:avLst/>
              <a:gdLst/>
              <a:ahLst/>
              <a:cxnLst/>
              <a:rect l="l" t="t" r="r" b="b"/>
              <a:pathLst>
                <a:path w="519511" h="2709333">
                  <a:moveTo>
                    <a:pt x="0" y="0"/>
                  </a:moveTo>
                  <a:lnTo>
                    <a:pt x="519511" y="0"/>
                  </a:lnTo>
                  <a:lnTo>
                    <a:pt x="519511" y="2709333"/>
                  </a:lnTo>
                  <a:lnTo>
                    <a:pt x="0" y="2709333"/>
                  </a:lnTo>
                  <a:close/>
                </a:path>
              </a:pathLst>
            </a:custGeom>
            <a:solidFill>
              <a:srgbClr val="FFDE59"/>
            </a:solidFill>
          </p:spPr>
          <p:txBody>
            <a:bodyPr/>
            <a:lstStyle/>
            <a:p>
              <a:endParaRPr lang="en-US"/>
            </a:p>
          </p:txBody>
        </p:sp>
        <p:sp>
          <p:nvSpPr>
            <p:cNvPr id="7" name="TextBox 7"/>
            <p:cNvSpPr txBox="1"/>
            <p:nvPr/>
          </p:nvSpPr>
          <p:spPr>
            <a:xfrm>
              <a:off x="0" y="-38100"/>
              <a:ext cx="519511" cy="2747433"/>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419675" y="2413481"/>
            <a:ext cx="13444853" cy="2129687"/>
            <a:chOff x="0" y="0"/>
            <a:chExt cx="3541031" cy="560905"/>
          </a:xfrm>
        </p:grpSpPr>
        <p:sp>
          <p:nvSpPr>
            <p:cNvPr id="9" name="Freeform 9"/>
            <p:cNvSpPr/>
            <p:nvPr/>
          </p:nvSpPr>
          <p:spPr>
            <a:xfrm>
              <a:off x="0" y="0"/>
              <a:ext cx="3541031" cy="560905"/>
            </a:xfrm>
            <a:custGeom>
              <a:avLst/>
              <a:gdLst/>
              <a:ahLst/>
              <a:cxnLst/>
              <a:rect l="l" t="t" r="r" b="b"/>
              <a:pathLst>
                <a:path w="3541031" h="560905">
                  <a:moveTo>
                    <a:pt x="0" y="0"/>
                  </a:moveTo>
                  <a:lnTo>
                    <a:pt x="3541031" y="0"/>
                  </a:lnTo>
                  <a:lnTo>
                    <a:pt x="3541031" y="560905"/>
                  </a:lnTo>
                  <a:lnTo>
                    <a:pt x="0" y="560905"/>
                  </a:lnTo>
                  <a:close/>
                </a:path>
              </a:pathLst>
            </a:custGeom>
            <a:solidFill>
              <a:srgbClr val="FFFFFF"/>
            </a:solidFill>
          </p:spPr>
          <p:txBody>
            <a:bodyPr/>
            <a:lstStyle/>
            <a:p>
              <a:endParaRPr lang="en-US"/>
            </a:p>
          </p:txBody>
        </p:sp>
        <p:sp>
          <p:nvSpPr>
            <p:cNvPr id="10" name="TextBox 10"/>
            <p:cNvSpPr txBox="1"/>
            <p:nvPr/>
          </p:nvSpPr>
          <p:spPr>
            <a:xfrm>
              <a:off x="0" y="-57150"/>
              <a:ext cx="3541031" cy="618055"/>
            </a:xfrm>
            <a:prstGeom prst="rect">
              <a:avLst/>
            </a:prstGeom>
          </p:spPr>
          <p:txBody>
            <a:bodyPr lIns="50800" tIns="50800" rIns="50800" bIns="50800" rtlCol="0" anchor="ctr"/>
            <a:lstStyle/>
            <a:p>
              <a:pPr algn="just">
                <a:lnSpc>
                  <a:spcPts val="3919"/>
                </a:lnSpc>
                <a:spcBef>
                  <a:spcPct val="0"/>
                </a:spcBef>
              </a:pPr>
              <a:r>
                <a:rPr lang="en-US" sz="2799">
                  <a:solidFill>
                    <a:srgbClr val="3231C3"/>
                  </a:solidFill>
                  <a:latin typeface="Celandine"/>
                  <a:ea typeface="Celandine"/>
                  <a:cs typeface="Celandine"/>
                  <a:sym typeface="Celandine"/>
                </a:rPr>
                <a:t>In the 1980s, India faced a critical missile technology gap with limited indigenous capabilities. National security was vulnerable, and dependence on foreign arms was high.</a:t>
              </a:r>
            </a:p>
          </p:txBody>
        </p:sp>
      </p:grpSp>
      <p:grpSp>
        <p:nvGrpSpPr>
          <p:cNvPr id="11" name="Group 11"/>
          <p:cNvGrpSpPr/>
          <p:nvPr/>
        </p:nvGrpSpPr>
        <p:grpSpPr>
          <a:xfrm>
            <a:off x="2381386" y="5203972"/>
            <a:ext cx="13427787" cy="2217115"/>
            <a:chOff x="0" y="0"/>
            <a:chExt cx="3536537" cy="583932"/>
          </a:xfrm>
        </p:grpSpPr>
        <p:sp>
          <p:nvSpPr>
            <p:cNvPr id="12" name="Freeform 12"/>
            <p:cNvSpPr/>
            <p:nvPr/>
          </p:nvSpPr>
          <p:spPr>
            <a:xfrm>
              <a:off x="0" y="0"/>
              <a:ext cx="3536536" cy="583932"/>
            </a:xfrm>
            <a:custGeom>
              <a:avLst/>
              <a:gdLst/>
              <a:ahLst/>
              <a:cxnLst/>
              <a:rect l="l" t="t" r="r" b="b"/>
              <a:pathLst>
                <a:path w="3536536" h="583932">
                  <a:moveTo>
                    <a:pt x="0" y="0"/>
                  </a:moveTo>
                  <a:lnTo>
                    <a:pt x="3536536" y="0"/>
                  </a:lnTo>
                  <a:lnTo>
                    <a:pt x="3536536" y="583932"/>
                  </a:lnTo>
                  <a:lnTo>
                    <a:pt x="0" y="583932"/>
                  </a:lnTo>
                  <a:close/>
                </a:path>
              </a:pathLst>
            </a:custGeom>
            <a:solidFill>
              <a:srgbClr val="FFFFFF"/>
            </a:solidFill>
          </p:spPr>
          <p:txBody>
            <a:bodyPr/>
            <a:lstStyle/>
            <a:p>
              <a:endParaRPr lang="en-US"/>
            </a:p>
          </p:txBody>
        </p:sp>
        <p:sp>
          <p:nvSpPr>
            <p:cNvPr id="13" name="TextBox 13"/>
            <p:cNvSpPr txBox="1"/>
            <p:nvPr/>
          </p:nvSpPr>
          <p:spPr>
            <a:xfrm>
              <a:off x="0" y="-47625"/>
              <a:ext cx="3536537" cy="631557"/>
            </a:xfrm>
            <a:prstGeom prst="rect">
              <a:avLst/>
            </a:prstGeom>
          </p:spPr>
          <p:txBody>
            <a:bodyPr lIns="50800" tIns="50800" rIns="50800" bIns="50800" rtlCol="0" anchor="ctr"/>
            <a:lstStyle/>
            <a:p>
              <a:pPr algn="just">
                <a:lnSpc>
                  <a:spcPts val="3359"/>
                </a:lnSpc>
              </a:pPr>
              <a:r>
                <a:rPr lang="en-US" sz="2399">
                  <a:solidFill>
                    <a:srgbClr val="3231C3"/>
                  </a:solidFill>
                  <a:latin typeface="Celandine"/>
                  <a:ea typeface="Celandine"/>
                  <a:cs typeface="Celandine"/>
                  <a:sym typeface="Celandine"/>
                </a:rPr>
                <a:t>Dr. Kalam spearheaded the Integrated Guided Missile Development Programme (IGMDP), leading to the development of:</a:t>
              </a:r>
            </a:p>
            <a:p>
              <a:pPr marL="518157" lvl="1" indent="-259078" algn="just">
                <a:lnSpc>
                  <a:spcPts val="3359"/>
                </a:lnSpc>
                <a:buFont typeface="Arial"/>
                <a:buChar char="•"/>
              </a:pPr>
              <a:r>
                <a:rPr lang="en-US" sz="2399">
                  <a:solidFill>
                    <a:srgbClr val="3231C3"/>
                  </a:solidFill>
                  <a:latin typeface="Celandine"/>
                  <a:ea typeface="Celandine"/>
                  <a:cs typeface="Celandine"/>
                  <a:sym typeface="Celandine"/>
                </a:rPr>
                <a:t>Prithvi (tactical surface-to-surface missile)</a:t>
              </a:r>
            </a:p>
            <a:p>
              <a:pPr marL="518157" lvl="1" indent="-259078" algn="just">
                <a:lnSpc>
                  <a:spcPts val="3359"/>
                </a:lnSpc>
                <a:buFont typeface="Arial"/>
                <a:buChar char="•"/>
              </a:pPr>
              <a:r>
                <a:rPr lang="en-US" sz="2399">
                  <a:solidFill>
                    <a:srgbClr val="3231C3"/>
                  </a:solidFill>
                  <a:latin typeface="Celandine"/>
                  <a:ea typeface="Celandine"/>
                  <a:cs typeface="Celandine"/>
                  <a:sym typeface="Celandine"/>
                </a:rPr>
                <a:t>Agni (strategic ballistic missile)</a:t>
              </a:r>
            </a:p>
            <a:p>
              <a:pPr marL="518157" lvl="1" indent="-259078" algn="just">
                <a:lnSpc>
                  <a:spcPts val="3359"/>
                </a:lnSpc>
                <a:spcBef>
                  <a:spcPct val="0"/>
                </a:spcBef>
                <a:buFont typeface="Arial"/>
                <a:buChar char="•"/>
              </a:pPr>
              <a:r>
                <a:rPr lang="en-US" sz="2399">
                  <a:solidFill>
                    <a:srgbClr val="3231C3"/>
                  </a:solidFill>
                  <a:latin typeface="Celandine"/>
                  <a:ea typeface="Celandine"/>
                  <a:cs typeface="Celandine"/>
                  <a:sym typeface="Celandine"/>
                </a:rPr>
                <a:t>Akash, Trishul, and Nag missiles</a:t>
              </a:r>
            </a:p>
          </p:txBody>
        </p:sp>
      </p:grpSp>
      <p:grpSp>
        <p:nvGrpSpPr>
          <p:cNvPr id="14" name="Group 14"/>
          <p:cNvGrpSpPr/>
          <p:nvPr/>
        </p:nvGrpSpPr>
        <p:grpSpPr>
          <a:xfrm>
            <a:off x="2364321" y="8013976"/>
            <a:ext cx="13444853" cy="2129687"/>
            <a:chOff x="0" y="0"/>
            <a:chExt cx="3541031" cy="560905"/>
          </a:xfrm>
        </p:grpSpPr>
        <p:sp>
          <p:nvSpPr>
            <p:cNvPr id="15" name="Freeform 15"/>
            <p:cNvSpPr/>
            <p:nvPr/>
          </p:nvSpPr>
          <p:spPr>
            <a:xfrm>
              <a:off x="0" y="0"/>
              <a:ext cx="3541031" cy="560905"/>
            </a:xfrm>
            <a:custGeom>
              <a:avLst/>
              <a:gdLst/>
              <a:ahLst/>
              <a:cxnLst/>
              <a:rect l="l" t="t" r="r" b="b"/>
              <a:pathLst>
                <a:path w="3541031" h="560905">
                  <a:moveTo>
                    <a:pt x="0" y="0"/>
                  </a:moveTo>
                  <a:lnTo>
                    <a:pt x="3541031" y="0"/>
                  </a:lnTo>
                  <a:lnTo>
                    <a:pt x="3541031" y="560905"/>
                  </a:lnTo>
                  <a:lnTo>
                    <a:pt x="0" y="560905"/>
                  </a:lnTo>
                  <a:close/>
                </a:path>
              </a:pathLst>
            </a:custGeom>
            <a:solidFill>
              <a:srgbClr val="FFFFFF"/>
            </a:solidFill>
          </p:spPr>
          <p:txBody>
            <a:bodyPr/>
            <a:lstStyle/>
            <a:p>
              <a:endParaRPr lang="en-US"/>
            </a:p>
          </p:txBody>
        </p:sp>
        <p:sp>
          <p:nvSpPr>
            <p:cNvPr id="16" name="TextBox 16"/>
            <p:cNvSpPr txBox="1"/>
            <p:nvPr/>
          </p:nvSpPr>
          <p:spPr>
            <a:xfrm>
              <a:off x="0" y="-57150"/>
              <a:ext cx="3541031" cy="618055"/>
            </a:xfrm>
            <a:prstGeom prst="rect">
              <a:avLst/>
            </a:prstGeom>
          </p:spPr>
          <p:txBody>
            <a:bodyPr lIns="50800" tIns="50800" rIns="50800" bIns="50800" rtlCol="0" anchor="ctr"/>
            <a:lstStyle/>
            <a:p>
              <a:pPr marL="604515" lvl="1" indent="-302257" algn="just">
                <a:lnSpc>
                  <a:spcPts val="3919"/>
                </a:lnSpc>
                <a:buFont typeface="Arial"/>
                <a:buChar char="•"/>
              </a:pPr>
              <a:r>
                <a:rPr lang="en-US" sz="2799">
                  <a:solidFill>
                    <a:srgbClr val="3231C3"/>
                  </a:solidFill>
                  <a:latin typeface="Celandine"/>
                  <a:ea typeface="Celandine"/>
                  <a:cs typeface="Celandine"/>
                  <a:sym typeface="Celandine"/>
                </a:rPr>
                <a:t>India achieved self-reliance in missile technology</a:t>
              </a:r>
            </a:p>
            <a:p>
              <a:pPr marL="604515" lvl="1" indent="-302257" algn="just">
                <a:lnSpc>
                  <a:spcPts val="3919"/>
                </a:lnSpc>
                <a:buFont typeface="Arial"/>
                <a:buChar char="•"/>
              </a:pPr>
              <a:r>
                <a:rPr lang="en-US" sz="2799">
                  <a:solidFill>
                    <a:srgbClr val="3231C3"/>
                  </a:solidFill>
                  <a:latin typeface="Celandine"/>
                  <a:ea typeface="Celandine"/>
                  <a:cs typeface="Celandine"/>
                  <a:sym typeface="Celandine"/>
                </a:rPr>
                <a:t>Strengthened national defense capabilities</a:t>
              </a:r>
            </a:p>
            <a:p>
              <a:pPr marL="604515" lvl="1" indent="-302257" algn="just">
                <a:lnSpc>
                  <a:spcPts val="3919"/>
                </a:lnSpc>
                <a:spcBef>
                  <a:spcPct val="0"/>
                </a:spcBef>
                <a:buFont typeface="Arial"/>
                <a:buChar char="•"/>
              </a:pPr>
              <a:r>
                <a:rPr lang="en-US" sz="2799">
                  <a:solidFill>
                    <a:srgbClr val="3231C3"/>
                  </a:solidFill>
                  <a:latin typeface="Celandine"/>
                  <a:ea typeface="Celandine"/>
                  <a:cs typeface="Celandine"/>
                  <a:sym typeface="Celandine"/>
                </a:rPr>
                <a:t>Earned India the recognition of a nuclear-capable nation (Pokhran-II, 1998, where he played a key scientific role)</a:t>
              </a:r>
            </a:p>
          </p:txBody>
        </p:sp>
      </p:grpSp>
      <p:sp>
        <p:nvSpPr>
          <p:cNvPr id="17" name="Freeform 17"/>
          <p:cNvSpPr/>
          <p:nvPr/>
        </p:nvSpPr>
        <p:spPr>
          <a:xfrm>
            <a:off x="16596673" y="2775233"/>
            <a:ext cx="1406183" cy="1406183"/>
          </a:xfrm>
          <a:custGeom>
            <a:avLst/>
            <a:gdLst/>
            <a:ahLst/>
            <a:cxnLst/>
            <a:rect l="l" t="t" r="r" b="b"/>
            <a:pathLst>
              <a:path w="1406183" h="1406183">
                <a:moveTo>
                  <a:pt x="0" y="0"/>
                </a:moveTo>
                <a:lnTo>
                  <a:pt x="1406183" y="0"/>
                </a:lnTo>
                <a:lnTo>
                  <a:pt x="1406183" y="1406183"/>
                </a:lnTo>
                <a:lnTo>
                  <a:pt x="0" y="14061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8" name="Freeform 18"/>
          <p:cNvSpPr/>
          <p:nvPr/>
        </p:nvSpPr>
        <p:spPr>
          <a:xfrm>
            <a:off x="16596673" y="8564496"/>
            <a:ext cx="1028647" cy="1028647"/>
          </a:xfrm>
          <a:custGeom>
            <a:avLst/>
            <a:gdLst/>
            <a:ahLst/>
            <a:cxnLst/>
            <a:rect l="l" t="t" r="r" b="b"/>
            <a:pathLst>
              <a:path w="1028647" h="1028647">
                <a:moveTo>
                  <a:pt x="0" y="0"/>
                </a:moveTo>
                <a:lnTo>
                  <a:pt x="1028646" y="0"/>
                </a:lnTo>
                <a:lnTo>
                  <a:pt x="1028646" y="1028647"/>
                </a:lnTo>
                <a:lnTo>
                  <a:pt x="0" y="1028647"/>
                </a:lnTo>
                <a:lnTo>
                  <a:pt x="0" y="0"/>
                </a:lnTo>
                <a:close/>
              </a:path>
            </a:pathLst>
          </a:custGeom>
          <a:blipFill>
            <a:blip r:embed="rId3"/>
            <a:stretch>
              <a:fillRect/>
            </a:stretch>
          </a:blipFill>
        </p:spPr>
        <p:txBody>
          <a:bodyPr/>
          <a:lstStyle/>
          <a:p>
            <a:endParaRPr lang="en-US"/>
          </a:p>
        </p:txBody>
      </p:sp>
      <p:sp>
        <p:nvSpPr>
          <p:cNvPr id="19" name="TextBox 19"/>
          <p:cNvSpPr txBox="1"/>
          <p:nvPr/>
        </p:nvSpPr>
        <p:spPr>
          <a:xfrm>
            <a:off x="2692822" y="-63819"/>
            <a:ext cx="12902357" cy="2075568"/>
          </a:xfrm>
          <a:prstGeom prst="rect">
            <a:avLst/>
          </a:prstGeom>
        </p:spPr>
        <p:txBody>
          <a:bodyPr lIns="0" tIns="0" rIns="0" bIns="0" rtlCol="0" anchor="t">
            <a:spAutoFit/>
          </a:bodyPr>
          <a:lstStyle/>
          <a:p>
            <a:pPr algn="ctr">
              <a:lnSpc>
                <a:spcPts val="10499"/>
              </a:lnSpc>
            </a:pPr>
            <a:r>
              <a:rPr lang="en-US" sz="7200" dirty="0">
                <a:solidFill>
                  <a:srgbClr val="FFDE59"/>
                </a:solidFill>
                <a:latin typeface="League Spartan"/>
                <a:ea typeface="League Spartan"/>
                <a:cs typeface="League Spartan"/>
                <a:sym typeface="League Spartan"/>
              </a:rPr>
              <a:t>Problems-Solution-Impact</a:t>
            </a:r>
          </a:p>
          <a:p>
            <a:pPr algn="ctr">
              <a:lnSpc>
                <a:spcPts val="5879"/>
              </a:lnSpc>
              <a:spcBef>
                <a:spcPct val="0"/>
              </a:spcBef>
            </a:pPr>
            <a:r>
              <a:rPr lang="en-US" sz="4000" dirty="0">
                <a:solidFill>
                  <a:srgbClr val="2E266D"/>
                </a:solidFill>
                <a:latin typeface="League Spartan"/>
                <a:ea typeface="League Spartan"/>
                <a:cs typeface="League Spartan"/>
                <a:sym typeface="League Spartan"/>
              </a:rPr>
              <a:t>National</a:t>
            </a:r>
          </a:p>
        </p:txBody>
      </p:sp>
      <p:sp>
        <p:nvSpPr>
          <p:cNvPr id="20" name="TextBox 20"/>
          <p:cNvSpPr txBox="1"/>
          <p:nvPr/>
        </p:nvSpPr>
        <p:spPr>
          <a:xfrm>
            <a:off x="2419724" y="1740219"/>
            <a:ext cx="2533276" cy="721997"/>
          </a:xfrm>
          <a:prstGeom prst="rect">
            <a:avLst/>
          </a:prstGeom>
        </p:spPr>
        <p:txBody>
          <a:bodyPr wrap="square" lIns="0" tIns="0" rIns="0" bIns="0" rtlCol="0" anchor="t">
            <a:spAutoFit/>
          </a:bodyPr>
          <a:lstStyle/>
          <a:p>
            <a:pPr algn="ctr">
              <a:lnSpc>
                <a:spcPts val="5879"/>
              </a:lnSpc>
              <a:spcBef>
                <a:spcPct val="0"/>
              </a:spcBef>
            </a:pPr>
            <a:r>
              <a:rPr lang="en-US" sz="4199" dirty="0">
                <a:solidFill>
                  <a:srgbClr val="FFDE59"/>
                </a:solidFill>
                <a:latin typeface="League Spartan"/>
                <a:ea typeface="League Spartan"/>
                <a:cs typeface="League Spartan"/>
                <a:sym typeface="League Spartan"/>
              </a:rPr>
              <a:t>Problem</a:t>
            </a:r>
          </a:p>
        </p:txBody>
      </p:sp>
      <p:sp>
        <p:nvSpPr>
          <p:cNvPr id="21" name="TextBox 21"/>
          <p:cNvSpPr txBox="1"/>
          <p:nvPr/>
        </p:nvSpPr>
        <p:spPr>
          <a:xfrm>
            <a:off x="2419675" y="4481976"/>
            <a:ext cx="2685725" cy="721997"/>
          </a:xfrm>
          <a:prstGeom prst="rect">
            <a:avLst/>
          </a:prstGeom>
        </p:spPr>
        <p:txBody>
          <a:bodyPr wrap="square" lIns="0" tIns="0" rIns="0" bIns="0" rtlCol="0" anchor="t">
            <a:spAutoFit/>
          </a:bodyPr>
          <a:lstStyle/>
          <a:p>
            <a:pPr algn="ctr">
              <a:lnSpc>
                <a:spcPts val="5879"/>
              </a:lnSpc>
              <a:spcBef>
                <a:spcPct val="0"/>
              </a:spcBef>
            </a:pPr>
            <a:r>
              <a:rPr lang="en-US" sz="4199" dirty="0">
                <a:solidFill>
                  <a:srgbClr val="FFDE59"/>
                </a:solidFill>
                <a:latin typeface="League Spartan"/>
                <a:ea typeface="League Spartan"/>
                <a:cs typeface="League Spartan"/>
                <a:sym typeface="League Spartan"/>
              </a:rPr>
              <a:t>Solution</a:t>
            </a:r>
          </a:p>
        </p:txBody>
      </p:sp>
      <p:sp>
        <p:nvSpPr>
          <p:cNvPr id="22" name="TextBox 22"/>
          <p:cNvSpPr txBox="1"/>
          <p:nvPr/>
        </p:nvSpPr>
        <p:spPr>
          <a:xfrm>
            <a:off x="2364320" y="7328176"/>
            <a:ext cx="2207679" cy="721997"/>
          </a:xfrm>
          <a:prstGeom prst="rect">
            <a:avLst/>
          </a:prstGeom>
        </p:spPr>
        <p:txBody>
          <a:bodyPr wrap="square" lIns="0" tIns="0" rIns="0" bIns="0" rtlCol="0" anchor="t">
            <a:spAutoFit/>
          </a:bodyPr>
          <a:lstStyle/>
          <a:p>
            <a:pPr algn="ctr">
              <a:lnSpc>
                <a:spcPts val="5879"/>
              </a:lnSpc>
              <a:spcBef>
                <a:spcPct val="0"/>
              </a:spcBef>
            </a:pPr>
            <a:r>
              <a:rPr lang="en-US" sz="4199" dirty="0">
                <a:solidFill>
                  <a:srgbClr val="FFDE59"/>
                </a:solidFill>
                <a:latin typeface="League Spartan"/>
                <a:ea typeface="League Spartan"/>
                <a:cs typeface="League Spartan"/>
                <a:sym typeface="League Spartan"/>
              </a:rPr>
              <a:t>Impact</a:t>
            </a: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a:off x="16235105" y="-263876"/>
            <a:ext cx="2048390" cy="10550876"/>
            <a:chOff x="0" y="0"/>
            <a:chExt cx="539494" cy="2778832"/>
          </a:xfrm>
        </p:grpSpPr>
        <p:sp>
          <p:nvSpPr>
            <p:cNvPr id="3" name="Freeform 3"/>
            <p:cNvSpPr/>
            <p:nvPr/>
          </p:nvSpPr>
          <p:spPr>
            <a:xfrm>
              <a:off x="0" y="0"/>
              <a:ext cx="539494" cy="2778832"/>
            </a:xfrm>
            <a:custGeom>
              <a:avLst/>
              <a:gdLst/>
              <a:ahLst/>
              <a:cxnLst/>
              <a:rect l="l" t="t" r="r" b="b"/>
              <a:pathLst>
                <a:path w="539494" h="2778832">
                  <a:moveTo>
                    <a:pt x="0" y="0"/>
                  </a:moveTo>
                  <a:lnTo>
                    <a:pt x="539494" y="0"/>
                  </a:lnTo>
                  <a:lnTo>
                    <a:pt x="539494" y="2778832"/>
                  </a:lnTo>
                  <a:lnTo>
                    <a:pt x="0" y="2778832"/>
                  </a:lnTo>
                  <a:close/>
                </a:path>
              </a:pathLst>
            </a:custGeom>
            <a:solidFill>
              <a:srgbClr val="FFDE59"/>
            </a:solidFill>
          </p:spPr>
          <p:txBody>
            <a:bodyPr/>
            <a:lstStyle/>
            <a:p>
              <a:endParaRPr lang="en-US"/>
            </a:p>
          </p:txBody>
        </p:sp>
        <p:sp>
          <p:nvSpPr>
            <p:cNvPr id="4" name="TextBox 4"/>
            <p:cNvSpPr txBox="1"/>
            <p:nvPr/>
          </p:nvSpPr>
          <p:spPr>
            <a:xfrm>
              <a:off x="0" y="-38100"/>
              <a:ext cx="539494" cy="281693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0"/>
            <a:ext cx="1972520" cy="10287000"/>
            <a:chOff x="0" y="0"/>
            <a:chExt cx="519511" cy="2709333"/>
          </a:xfrm>
        </p:grpSpPr>
        <p:sp>
          <p:nvSpPr>
            <p:cNvPr id="6" name="Freeform 6"/>
            <p:cNvSpPr/>
            <p:nvPr/>
          </p:nvSpPr>
          <p:spPr>
            <a:xfrm>
              <a:off x="0" y="0"/>
              <a:ext cx="519511" cy="2709333"/>
            </a:xfrm>
            <a:custGeom>
              <a:avLst/>
              <a:gdLst/>
              <a:ahLst/>
              <a:cxnLst/>
              <a:rect l="l" t="t" r="r" b="b"/>
              <a:pathLst>
                <a:path w="519511" h="2709333">
                  <a:moveTo>
                    <a:pt x="0" y="0"/>
                  </a:moveTo>
                  <a:lnTo>
                    <a:pt x="519511" y="0"/>
                  </a:lnTo>
                  <a:lnTo>
                    <a:pt x="519511" y="2709333"/>
                  </a:lnTo>
                  <a:lnTo>
                    <a:pt x="0" y="2709333"/>
                  </a:lnTo>
                  <a:close/>
                </a:path>
              </a:pathLst>
            </a:custGeom>
            <a:solidFill>
              <a:srgbClr val="FFDE59"/>
            </a:solidFill>
          </p:spPr>
          <p:txBody>
            <a:bodyPr/>
            <a:lstStyle/>
            <a:p>
              <a:endParaRPr lang="en-US"/>
            </a:p>
          </p:txBody>
        </p:sp>
        <p:sp>
          <p:nvSpPr>
            <p:cNvPr id="7" name="TextBox 7"/>
            <p:cNvSpPr txBox="1"/>
            <p:nvPr/>
          </p:nvSpPr>
          <p:spPr>
            <a:xfrm>
              <a:off x="0" y="-38100"/>
              <a:ext cx="519511" cy="2747433"/>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419675" y="2413481"/>
            <a:ext cx="13444853" cy="2129687"/>
            <a:chOff x="0" y="0"/>
            <a:chExt cx="3541031" cy="560905"/>
          </a:xfrm>
        </p:grpSpPr>
        <p:sp>
          <p:nvSpPr>
            <p:cNvPr id="9" name="Freeform 9"/>
            <p:cNvSpPr/>
            <p:nvPr/>
          </p:nvSpPr>
          <p:spPr>
            <a:xfrm>
              <a:off x="0" y="0"/>
              <a:ext cx="3541031" cy="560905"/>
            </a:xfrm>
            <a:custGeom>
              <a:avLst/>
              <a:gdLst/>
              <a:ahLst/>
              <a:cxnLst/>
              <a:rect l="l" t="t" r="r" b="b"/>
              <a:pathLst>
                <a:path w="3541031" h="560905">
                  <a:moveTo>
                    <a:pt x="0" y="0"/>
                  </a:moveTo>
                  <a:lnTo>
                    <a:pt x="3541031" y="0"/>
                  </a:lnTo>
                  <a:lnTo>
                    <a:pt x="3541031" y="560905"/>
                  </a:lnTo>
                  <a:lnTo>
                    <a:pt x="0" y="560905"/>
                  </a:lnTo>
                  <a:close/>
                </a:path>
              </a:pathLst>
            </a:custGeom>
            <a:solidFill>
              <a:srgbClr val="FFFFFF"/>
            </a:solidFill>
          </p:spPr>
          <p:txBody>
            <a:bodyPr/>
            <a:lstStyle/>
            <a:p>
              <a:endParaRPr lang="en-US"/>
            </a:p>
          </p:txBody>
        </p:sp>
        <p:sp>
          <p:nvSpPr>
            <p:cNvPr id="10" name="TextBox 10"/>
            <p:cNvSpPr txBox="1"/>
            <p:nvPr/>
          </p:nvSpPr>
          <p:spPr>
            <a:xfrm>
              <a:off x="0" y="-57150"/>
              <a:ext cx="3541031" cy="618055"/>
            </a:xfrm>
            <a:prstGeom prst="rect">
              <a:avLst/>
            </a:prstGeom>
          </p:spPr>
          <p:txBody>
            <a:bodyPr lIns="50800" tIns="50800" rIns="50800" bIns="50800" rtlCol="0" anchor="ctr"/>
            <a:lstStyle/>
            <a:p>
              <a:pPr algn="just">
                <a:lnSpc>
                  <a:spcPts val="3919"/>
                </a:lnSpc>
                <a:spcBef>
                  <a:spcPct val="0"/>
                </a:spcBef>
              </a:pPr>
              <a:r>
                <a:rPr lang="en-US" sz="2799">
                  <a:solidFill>
                    <a:srgbClr val="3231C3"/>
                  </a:solidFill>
                  <a:latin typeface="Celandine"/>
                  <a:ea typeface="Celandine"/>
                  <a:cs typeface="Celandine"/>
                  <a:sym typeface="Celandine"/>
                </a:rPr>
                <a:t>In the 1960s–80s, developing nations like India faced restricted access to advanced space technology from developed countries. Launch vehicles and satellite technology were heavily controlled, limiting India's ability to build self-reliant space programs.</a:t>
              </a:r>
            </a:p>
          </p:txBody>
        </p:sp>
      </p:grpSp>
      <p:grpSp>
        <p:nvGrpSpPr>
          <p:cNvPr id="11" name="Group 11"/>
          <p:cNvGrpSpPr/>
          <p:nvPr/>
        </p:nvGrpSpPr>
        <p:grpSpPr>
          <a:xfrm>
            <a:off x="2381386" y="5203972"/>
            <a:ext cx="13427787" cy="2129687"/>
            <a:chOff x="0" y="0"/>
            <a:chExt cx="3536537" cy="560905"/>
          </a:xfrm>
        </p:grpSpPr>
        <p:sp>
          <p:nvSpPr>
            <p:cNvPr id="12" name="Freeform 12"/>
            <p:cNvSpPr/>
            <p:nvPr/>
          </p:nvSpPr>
          <p:spPr>
            <a:xfrm>
              <a:off x="0" y="0"/>
              <a:ext cx="3536536" cy="560905"/>
            </a:xfrm>
            <a:custGeom>
              <a:avLst/>
              <a:gdLst/>
              <a:ahLst/>
              <a:cxnLst/>
              <a:rect l="l" t="t" r="r" b="b"/>
              <a:pathLst>
                <a:path w="3536536" h="560905">
                  <a:moveTo>
                    <a:pt x="0" y="0"/>
                  </a:moveTo>
                  <a:lnTo>
                    <a:pt x="3536536" y="0"/>
                  </a:lnTo>
                  <a:lnTo>
                    <a:pt x="3536536" y="560905"/>
                  </a:lnTo>
                  <a:lnTo>
                    <a:pt x="0" y="560905"/>
                  </a:lnTo>
                  <a:close/>
                </a:path>
              </a:pathLst>
            </a:custGeom>
            <a:solidFill>
              <a:srgbClr val="FFFFFF"/>
            </a:solidFill>
          </p:spPr>
          <p:txBody>
            <a:bodyPr/>
            <a:lstStyle/>
            <a:p>
              <a:endParaRPr lang="en-US"/>
            </a:p>
          </p:txBody>
        </p:sp>
        <p:sp>
          <p:nvSpPr>
            <p:cNvPr id="13" name="TextBox 13"/>
            <p:cNvSpPr txBox="1"/>
            <p:nvPr/>
          </p:nvSpPr>
          <p:spPr>
            <a:xfrm>
              <a:off x="0" y="-47625"/>
              <a:ext cx="3536537" cy="608530"/>
            </a:xfrm>
            <a:prstGeom prst="rect">
              <a:avLst/>
            </a:prstGeom>
          </p:spPr>
          <p:txBody>
            <a:bodyPr lIns="50800" tIns="50800" rIns="50800" bIns="50800" rtlCol="0" anchor="ctr"/>
            <a:lstStyle/>
            <a:p>
              <a:pPr algn="l">
                <a:lnSpc>
                  <a:spcPts val="3359"/>
                </a:lnSpc>
              </a:pPr>
              <a:r>
                <a:rPr lang="en-US" sz="2399">
                  <a:solidFill>
                    <a:srgbClr val="3231C3"/>
                  </a:solidFill>
                  <a:latin typeface="Celandine"/>
                  <a:ea typeface="Celandine"/>
                  <a:cs typeface="Celandine"/>
                  <a:sym typeface="Celandine"/>
                </a:rPr>
                <a:t>As the Project Director of India's first indigenous Satellite Launch Vehicle (SLV-3) at ISRO, Dr. Kalam led the team that successfully launched Rohini satellite into orbit in 1980. This demonstrated India's self-reliance in space technology and opened doors for international collaboration with organizations like NASA and Soviet space program.</a:t>
              </a:r>
            </a:p>
          </p:txBody>
        </p:sp>
      </p:grpSp>
      <p:grpSp>
        <p:nvGrpSpPr>
          <p:cNvPr id="23" name="Group 22">
            <a:extLst>
              <a:ext uri="{FF2B5EF4-FFF2-40B4-BE49-F238E27FC236}">
                <a16:creationId xmlns:a16="http://schemas.microsoft.com/office/drawing/2014/main" id="{41E107DE-E03A-83E5-3C17-1B4E61CCAFB6}"/>
              </a:ext>
            </a:extLst>
          </p:cNvPr>
          <p:cNvGrpSpPr/>
          <p:nvPr/>
        </p:nvGrpSpPr>
        <p:grpSpPr>
          <a:xfrm>
            <a:off x="2364321" y="8013976"/>
            <a:ext cx="13444853" cy="2129687"/>
            <a:chOff x="2364321" y="8013976"/>
            <a:chExt cx="13444853" cy="2129687"/>
          </a:xfrm>
        </p:grpSpPr>
        <p:sp>
          <p:nvSpPr>
            <p:cNvPr id="15" name="Freeform 15"/>
            <p:cNvSpPr/>
            <p:nvPr/>
          </p:nvSpPr>
          <p:spPr>
            <a:xfrm>
              <a:off x="2364321" y="8013976"/>
              <a:ext cx="13444853" cy="2129687"/>
            </a:xfrm>
            <a:custGeom>
              <a:avLst/>
              <a:gdLst/>
              <a:ahLst/>
              <a:cxnLst/>
              <a:rect l="l" t="t" r="r" b="b"/>
              <a:pathLst>
                <a:path w="3541031" h="560905">
                  <a:moveTo>
                    <a:pt x="0" y="0"/>
                  </a:moveTo>
                  <a:lnTo>
                    <a:pt x="3541031" y="0"/>
                  </a:lnTo>
                  <a:lnTo>
                    <a:pt x="3541031" y="560905"/>
                  </a:lnTo>
                  <a:lnTo>
                    <a:pt x="0" y="560905"/>
                  </a:lnTo>
                  <a:close/>
                </a:path>
              </a:pathLst>
            </a:custGeom>
            <a:solidFill>
              <a:srgbClr val="FFFFFF"/>
            </a:solidFill>
          </p:spPr>
          <p:txBody>
            <a:bodyPr/>
            <a:lstStyle/>
            <a:p>
              <a:endParaRPr lang="en-US"/>
            </a:p>
          </p:txBody>
        </p:sp>
        <p:sp>
          <p:nvSpPr>
            <p:cNvPr id="16" name="TextBox 16"/>
            <p:cNvSpPr txBox="1"/>
            <p:nvPr/>
          </p:nvSpPr>
          <p:spPr>
            <a:xfrm>
              <a:off x="2364321" y="8090510"/>
              <a:ext cx="13444853" cy="2053153"/>
            </a:xfrm>
            <a:prstGeom prst="rect">
              <a:avLst/>
            </a:prstGeom>
          </p:spPr>
          <p:txBody>
            <a:bodyPr lIns="50800" tIns="50800" rIns="50800" bIns="50800" rtlCol="0" anchor="ctr"/>
            <a:lstStyle/>
            <a:p>
              <a:pPr marL="582925" lvl="1" indent="-291463" algn="just">
                <a:lnSpc>
                  <a:spcPts val="3779"/>
                </a:lnSpc>
                <a:buFont typeface="Arial"/>
                <a:buChar char="•"/>
              </a:pPr>
              <a:r>
                <a:rPr lang="en-US" sz="2400" dirty="0">
                  <a:solidFill>
                    <a:srgbClr val="3231C3"/>
                  </a:solidFill>
                  <a:latin typeface="Celandine"/>
                  <a:ea typeface="Celandine"/>
                  <a:cs typeface="Celandine"/>
                  <a:sym typeface="Celandine"/>
                </a:rPr>
                <a:t>India became one of the few nations with indigenous launch capability</a:t>
              </a:r>
            </a:p>
            <a:p>
              <a:pPr marL="582925" lvl="1" indent="-291463" algn="just">
                <a:lnSpc>
                  <a:spcPts val="3779"/>
                </a:lnSpc>
                <a:buFont typeface="Arial"/>
                <a:buChar char="•"/>
              </a:pPr>
              <a:r>
                <a:rPr lang="en-US" sz="2400" dirty="0">
                  <a:solidFill>
                    <a:srgbClr val="3231C3"/>
                  </a:solidFill>
                  <a:latin typeface="Celandine"/>
                  <a:ea typeface="Celandine"/>
                  <a:cs typeface="Celandine"/>
                  <a:sym typeface="Celandine"/>
                </a:rPr>
                <a:t>Paved the way for ISRO's commercial arm, Antrix, offering launch services globally</a:t>
              </a:r>
            </a:p>
            <a:p>
              <a:pPr marL="582925" lvl="1" indent="-291463" algn="just">
                <a:lnSpc>
                  <a:spcPts val="3779"/>
                </a:lnSpc>
                <a:spcBef>
                  <a:spcPct val="0"/>
                </a:spcBef>
                <a:buFont typeface="Arial"/>
                <a:buChar char="•"/>
              </a:pPr>
              <a:r>
                <a:rPr lang="en-US" sz="2400" dirty="0">
                  <a:solidFill>
                    <a:srgbClr val="3231C3"/>
                  </a:solidFill>
                  <a:latin typeface="Celandine"/>
                  <a:ea typeface="Celandine"/>
                  <a:cs typeface="Celandine"/>
                  <a:sym typeface="Celandine"/>
                </a:rPr>
                <a:t>Established India as a trusted partner in international space missions (e.g., Chandrayaan, Mangalyaan)</a:t>
              </a:r>
            </a:p>
          </p:txBody>
        </p:sp>
      </p:grpSp>
      <p:sp>
        <p:nvSpPr>
          <p:cNvPr id="17" name="Freeform 17"/>
          <p:cNvSpPr/>
          <p:nvPr/>
        </p:nvSpPr>
        <p:spPr>
          <a:xfrm>
            <a:off x="16856053" y="2951208"/>
            <a:ext cx="930363" cy="930363"/>
          </a:xfrm>
          <a:custGeom>
            <a:avLst/>
            <a:gdLst/>
            <a:ahLst/>
            <a:cxnLst/>
            <a:rect l="l" t="t" r="r" b="b"/>
            <a:pathLst>
              <a:path w="930363" h="930363">
                <a:moveTo>
                  <a:pt x="0" y="0"/>
                </a:moveTo>
                <a:lnTo>
                  <a:pt x="930363" y="0"/>
                </a:lnTo>
                <a:lnTo>
                  <a:pt x="930363" y="930363"/>
                </a:lnTo>
                <a:lnTo>
                  <a:pt x="0" y="930363"/>
                </a:lnTo>
                <a:lnTo>
                  <a:pt x="0" y="0"/>
                </a:lnTo>
                <a:close/>
              </a:path>
            </a:pathLst>
          </a:custGeom>
          <a:blipFill>
            <a:blip r:embed="rId2"/>
            <a:stretch>
              <a:fillRect/>
            </a:stretch>
          </a:blipFill>
        </p:spPr>
        <p:txBody>
          <a:bodyPr/>
          <a:lstStyle/>
          <a:p>
            <a:endParaRPr lang="en-US"/>
          </a:p>
        </p:txBody>
      </p:sp>
      <p:sp>
        <p:nvSpPr>
          <p:cNvPr id="18" name="Freeform 18"/>
          <p:cNvSpPr/>
          <p:nvPr/>
        </p:nvSpPr>
        <p:spPr>
          <a:xfrm>
            <a:off x="16762605" y="8050172"/>
            <a:ext cx="993390" cy="1707389"/>
          </a:xfrm>
          <a:custGeom>
            <a:avLst/>
            <a:gdLst/>
            <a:ahLst/>
            <a:cxnLst/>
            <a:rect l="l" t="t" r="r" b="b"/>
            <a:pathLst>
              <a:path w="993390" h="1707389">
                <a:moveTo>
                  <a:pt x="0" y="0"/>
                </a:moveTo>
                <a:lnTo>
                  <a:pt x="993390" y="0"/>
                </a:lnTo>
                <a:lnTo>
                  <a:pt x="993390" y="1707390"/>
                </a:lnTo>
                <a:lnTo>
                  <a:pt x="0" y="1707390"/>
                </a:lnTo>
                <a:lnTo>
                  <a:pt x="0" y="0"/>
                </a:lnTo>
                <a:close/>
              </a:path>
            </a:pathLst>
          </a:custGeom>
          <a:blipFill>
            <a:blip r:embed="rId3"/>
            <a:stretch>
              <a:fillRect/>
            </a:stretch>
          </a:blipFill>
        </p:spPr>
        <p:txBody>
          <a:bodyPr/>
          <a:lstStyle/>
          <a:p>
            <a:endParaRPr lang="en-US"/>
          </a:p>
        </p:txBody>
      </p:sp>
      <p:sp>
        <p:nvSpPr>
          <p:cNvPr id="19" name="TextBox 19"/>
          <p:cNvSpPr txBox="1"/>
          <p:nvPr/>
        </p:nvSpPr>
        <p:spPr>
          <a:xfrm>
            <a:off x="2692822" y="-63819"/>
            <a:ext cx="12902357" cy="2075568"/>
          </a:xfrm>
          <a:prstGeom prst="rect">
            <a:avLst/>
          </a:prstGeom>
        </p:spPr>
        <p:txBody>
          <a:bodyPr lIns="0" tIns="0" rIns="0" bIns="0" rtlCol="0" anchor="t">
            <a:spAutoFit/>
          </a:bodyPr>
          <a:lstStyle/>
          <a:p>
            <a:pPr algn="ctr">
              <a:lnSpc>
                <a:spcPts val="10499"/>
              </a:lnSpc>
            </a:pPr>
            <a:r>
              <a:rPr lang="en-US" sz="6600" dirty="0">
                <a:solidFill>
                  <a:srgbClr val="FFDE59"/>
                </a:solidFill>
                <a:latin typeface="League Spartan"/>
                <a:ea typeface="League Spartan"/>
                <a:cs typeface="League Spartan"/>
                <a:sym typeface="League Spartan"/>
              </a:rPr>
              <a:t>Problems-Solution-Impact</a:t>
            </a:r>
          </a:p>
          <a:p>
            <a:pPr algn="ctr">
              <a:lnSpc>
                <a:spcPts val="5879"/>
              </a:lnSpc>
              <a:spcBef>
                <a:spcPct val="0"/>
              </a:spcBef>
            </a:pPr>
            <a:r>
              <a:rPr lang="en-US" sz="3600" dirty="0">
                <a:solidFill>
                  <a:srgbClr val="2E266D"/>
                </a:solidFill>
                <a:latin typeface="League Spartan"/>
                <a:ea typeface="League Spartan"/>
                <a:cs typeface="League Spartan"/>
                <a:sym typeface="League Spartan"/>
              </a:rPr>
              <a:t>Global</a:t>
            </a:r>
          </a:p>
        </p:txBody>
      </p:sp>
      <p:sp>
        <p:nvSpPr>
          <p:cNvPr id="20" name="TextBox 20"/>
          <p:cNvSpPr txBox="1"/>
          <p:nvPr/>
        </p:nvSpPr>
        <p:spPr>
          <a:xfrm>
            <a:off x="2419674" y="1740219"/>
            <a:ext cx="2761925" cy="721997"/>
          </a:xfrm>
          <a:prstGeom prst="rect">
            <a:avLst/>
          </a:prstGeom>
        </p:spPr>
        <p:txBody>
          <a:bodyPr wrap="square" lIns="0" tIns="0" rIns="0" bIns="0" rtlCol="0" anchor="t">
            <a:spAutoFit/>
          </a:bodyPr>
          <a:lstStyle/>
          <a:p>
            <a:pPr algn="ctr">
              <a:lnSpc>
                <a:spcPts val="5879"/>
              </a:lnSpc>
              <a:spcBef>
                <a:spcPct val="0"/>
              </a:spcBef>
            </a:pPr>
            <a:r>
              <a:rPr lang="en-US" sz="4199" dirty="0">
                <a:solidFill>
                  <a:srgbClr val="FFDE59"/>
                </a:solidFill>
                <a:latin typeface="League Spartan"/>
                <a:ea typeface="League Spartan"/>
                <a:cs typeface="League Spartan"/>
                <a:sym typeface="League Spartan"/>
              </a:rPr>
              <a:t>Problem</a:t>
            </a:r>
          </a:p>
        </p:txBody>
      </p:sp>
      <p:sp>
        <p:nvSpPr>
          <p:cNvPr id="21" name="TextBox 21"/>
          <p:cNvSpPr txBox="1"/>
          <p:nvPr/>
        </p:nvSpPr>
        <p:spPr>
          <a:xfrm>
            <a:off x="2453806" y="4481976"/>
            <a:ext cx="2575394" cy="721997"/>
          </a:xfrm>
          <a:prstGeom prst="rect">
            <a:avLst/>
          </a:prstGeom>
        </p:spPr>
        <p:txBody>
          <a:bodyPr wrap="square" lIns="0" tIns="0" rIns="0" bIns="0" rtlCol="0" anchor="t">
            <a:spAutoFit/>
          </a:bodyPr>
          <a:lstStyle/>
          <a:p>
            <a:pPr algn="ctr">
              <a:lnSpc>
                <a:spcPts val="5879"/>
              </a:lnSpc>
              <a:spcBef>
                <a:spcPct val="0"/>
              </a:spcBef>
            </a:pPr>
            <a:r>
              <a:rPr lang="en-US" sz="4199" dirty="0">
                <a:solidFill>
                  <a:srgbClr val="FFDE59"/>
                </a:solidFill>
                <a:latin typeface="League Spartan"/>
                <a:ea typeface="League Spartan"/>
                <a:cs typeface="League Spartan"/>
                <a:sym typeface="League Spartan"/>
              </a:rPr>
              <a:t>Solution</a:t>
            </a:r>
          </a:p>
        </p:txBody>
      </p:sp>
      <p:sp>
        <p:nvSpPr>
          <p:cNvPr id="22" name="TextBox 22"/>
          <p:cNvSpPr txBox="1"/>
          <p:nvPr/>
        </p:nvSpPr>
        <p:spPr>
          <a:xfrm>
            <a:off x="2364320" y="7328176"/>
            <a:ext cx="2207679" cy="721997"/>
          </a:xfrm>
          <a:prstGeom prst="rect">
            <a:avLst/>
          </a:prstGeom>
        </p:spPr>
        <p:txBody>
          <a:bodyPr wrap="square" lIns="0" tIns="0" rIns="0" bIns="0" rtlCol="0" anchor="t">
            <a:spAutoFit/>
          </a:bodyPr>
          <a:lstStyle/>
          <a:p>
            <a:pPr algn="ctr">
              <a:lnSpc>
                <a:spcPts val="5879"/>
              </a:lnSpc>
              <a:spcBef>
                <a:spcPct val="0"/>
              </a:spcBef>
            </a:pPr>
            <a:r>
              <a:rPr lang="en-US" sz="4199" dirty="0">
                <a:solidFill>
                  <a:srgbClr val="FFDE59"/>
                </a:solidFill>
                <a:latin typeface="League Spartan"/>
                <a:ea typeface="League Spartan"/>
                <a:cs typeface="League Spartan"/>
                <a:sym typeface="League Spartan"/>
              </a:rPr>
              <a:t>Impact</a:t>
            </a:r>
          </a:p>
        </p:txBody>
      </p:sp>
    </p:spTree>
  </p:cSld>
  <p:clrMapOvr>
    <a:masterClrMapping/>
  </p:clrMapOvr>
  <p:transition spd="slow">
    <p:push dir="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a:off x="16270481" y="0"/>
            <a:ext cx="2048390" cy="10550876"/>
            <a:chOff x="0" y="0"/>
            <a:chExt cx="539494" cy="2778832"/>
          </a:xfrm>
        </p:grpSpPr>
        <p:sp>
          <p:nvSpPr>
            <p:cNvPr id="3" name="Freeform 3"/>
            <p:cNvSpPr/>
            <p:nvPr/>
          </p:nvSpPr>
          <p:spPr>
            <a:xfrm>
              <a:off x="0" y="0"/>
              <a:ext cx="539494" cy="2778832"/>
            </a:xfrm>
            <a:custGeom>
              <a:avLst/>
              <a:gdLst/>
              <a:ahLst/>
              <a:cxnLst/>
              <a:rect l="l" t="t" r="r" b="b"/>
              <a:pathLst>
                <a:path w="539494" h="2778832">
                  <a:moveTo>
                    <a:pt x="0" y="0"/>
                  </a:moveTo>
                  <a:lnTo>
                    <a:pt x="539494" y="0"/>
                  </a:lnTo>
                  <a:lnTo>
                    <a:pt x="539494" y="2778832"/>
                  </a:lnTo>
                  <a:lnTo>
                    <a:pt x="0" y="2778832"/>
                  </a:lnTo>
                  <a:close/>
                </a:path>
              </a:pathLst>
            </a:custGeom>
            <a:solidFill>
              <a:srgbClr val="FFDE59"/>
            </a:solidFill>
          </p:spPr>
          <p:txBody>
            <a:bodyPr/>
            <a:lstStyle/>
            <a:p>
              <a:endParaRPr lang="en-US"/>
            </a:p>
          </p:txBody>
        </p:sp>
        <p:sp>
          <p:nvSpPr>
            <p:cNvPr id="4" name="TextBox 4"/>
            <p:cNvSpPr txBox="1"/>
            <p:nvPr/>
          </p:nvSpPr>
          <p:spPr>
            <a:xfrm>
              <a:off x="0" y="-38100"/>
              <a:ext cx="539494" cy="281693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69" y="0"/>
            <a:ext cx="1972520" cy="10287000"/>
            <a:chOff x="0" y="0"/>
            <a:chExt cx="519511" cy="2709333"/>
          </a:xfrm>
        </p:grpSpPr>
        <p:sp>
          <p:nvSpPr>
            <p:cNvPr id="6" name="Freeform 6"/>
            <p:cNvSpPr/>
            <p:nvPr/>
          </p:nvSpPr>
          <p:spPr>
            <a:xfrm>
              <a:off x="0" y="0"/>
              <a:ext cx="519511" cy="2709333"/>
            </a:xfrm>
            <a:custGeom>
              <a:avLst/>
              <a:gdLst/>
              <a:ahLst/>
              <a:cxnLst/>
              <a:rect l="l" t="t" r="r" b="b"/>
              <a:pathLst>
                <a:path w="519511" h="2709333">
                  <a:moveTo>
                    <a:pt x="0" y="0"/>
                  </a:moveTo>
                  <a:lnTo>
                    <a:pt x="519511" y="0"/>
                  </a:lnTo>
                  <a:lnTo>
                    <a:pt x="519511" y="2709333"/>
                  </a:lnTo>
                  <a:lnTo>
                    <a:pt x="0" y="2709333"/>
                  </a:lnTo>
                  <a:close/>
                </a:path>
              </a:pathLst>
            </a:custGeom>
            <a:solidFill>
              <a:srgbClr val="FFDE59"/>
            </a:solidFill>
          </p:spPr>
          <p:txBody>
            <a:bodyPr/>
            <a:lstStyle/>
            <a:p>
              <a:endParaRPr lang="en-US"/>
            </a:p>
          </p:txBody>
        </p:sp>
        <p:sp>
          <p:nvSpPr>
            <p:cNvPr id="7" name="TextBox 7"/>
            <p:cNvSpPr txBox="1"/>
            <p:nvPr/>
          </p:nvSpPr>
          <p:spPr>
            <a:xfrm>
              <a:off x="0" y="-38100"/>
              <a:ext cx="519511" cy="2747433"/>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2669239" y="1748170"/>
            <a:ext cx="8852743" cy="1313181"/>
          </a:xfrm>
          <a:prstGeom prst="rect">
            <a:avLst/>
          </a:prstGeom>
        </p:spPr>
        <p:txBody>
          <a:bodyPr lIns="0" tIns="0" rIns="0" bIns="0" rtlCol="0" anchor="t">
            <a:spAutoFit/>
          </a:bodyPr>
          <a:lstStyle/>
          <a:p>
            <a:pPr algn="ctr">
              <a:lnSpc>
                <a:spcPts val="5319"/>
              </a:lnSpc>
              <a:spcBef>
                <a:spcPct val="0"/>
              </a:spcBef>
            </a:pPr>
            <a:r>
              <a:rPr lang="en-US" sz="3799">
                <a:solidFill>
                  <a:srgbClr val="FFDE59"/>
                </a:solidFill>
                <a:latin typeface="Celandine"/>
                <a:ea typeface="Celandine"/>
                <a:cs typeface="Celandine"/>
                <a:sym typeface="Celandine"/>
              </a:rPr>
              <a:t>Kalam’s full name is ______.</a:t>
            </a:r>
          </a:p>
          <a:p>
            <a:pPr algn="ctr">
              <a:lnSpc>
                <a:spcPts val="5319"/>
              </a:lnSpc>
              <a:spcBef>
                <a:spcPct val="0"/>
              </a:spcBef>
            </a:pPr>
            <a:r>
              <a:rPr lang="en-US" sz="3799">
                <a:solidFill>
                  <a:srgbClr val="FFDE59"/>
                </a:solidFill>
                <a:latin typeface="Celandine"/>
                <a:ea typeface="Celandine"/>
                <a:cs typeface="Celandine"/>
                <a:sym typeface="Celandine"/>
              </a:rPr>
              <a:t>→ Avul Pakir Jainulabdeen Abdul Kalam</a:t>
            </a:r>
          </a:p>
        </p:txBody>
      </p:sp>
      <p:grpSp>
        <p:nvGrpSpPr>
          <p:cNvPr id="9" name="Group 9"/>
          <p:cNvGrpSpPr/>
          <p:nvPr/>
        </p:nvGrpSpPr>
        <p:grpSpPr>
          <a:xfrm>
            <a:off x="2669239" y="2431854"/>
            <a:ext cx="8852743" cy="1114639"/>
            <a:chOff x="0" y="0"/>
            <a:chExt cx="2331587" cy="293567"/>
          </a:xfrm>
        </p:grpSpPr>
        <p:sp>
          <p:nvSpPr>
            <p:cNvPr id="10" name="Freeform 10"/>
            <p:cNvSpPr/>
            <p:nvPr/>
          </p:nvSpPr>
          <p:spPr>
            <a:xfrm>
              <a:off x="0" y="0"/>
              <a:ext cx="2331587" cy="293567"/>
            </a:xfrm>
            <a:custGeom>
              <a:avLst/>
              <a:gdLst/>
              <a:ahLst/>
              <a:cxnLst/>
              <a:rect l="l" t="t" r="r" b="b"/>
              <a:pathLst>
                <a:path w="2331587" h="293567">
                  <a:moveTo>
                    <a:pt x="0" y="0"/>
                  </a:moveTo>
                  <a:lnTo>
                    <a:pt x="2331587" y="0"/>
                  </a:lnTo>
                  <a:lnTo>
                    <a:pt x="2331587" y="293567"/>
                  </a:lnTo>
                  <a:lnTo>
                    <a:pt x="0" y="293567"/>
                  </a:lnTo>
                  <a:close/>
                </a:path>
              </a:pathLst>
            </a:custGeom>
            <a:solidFill>
              <a:srgbClr val="6766E0"/>
            </a:solidFill>
          </p:spPr>
          <p:txBody>
            <a:bodyPr/>
            <a:lstStyle/>
            <a:p>
              <a:endParaRPr lang="en-US"/>
            </a:p>
          </p:txBody>
        </p:sp>
        <p:sp>
          <p:nvSpPr>
            <p:cNvPr id="11" name="TextBox 11"/>
            <p:cNvSpPr txBox="1"/>
            <p:nvPr/>
          </p:nvSpPr>
          <p:spPr>
            <a:xfrm>
              <a:off x="0" y="-38100"/>
              <a:ext cx="2331587" cy="331667"/>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4025234" y="3166127"/>
            <a:ext cx="7832080" cy="1313181"/>
          </a:xfrm>
          <a:prstGeom prst="rect">
            <a:avLst/>
          </a:prstGeom>
        </p:spPr>
        <p:txBody>
          <a:bodyPr lIns="0" tIns="0" rIns="0" bIns="0" rtlCol="0" anchor="t">
            <a:spAutoFit/>
          </a:bodyPr>
          <a:lstStyle/>
          <a:p>
            <a:pPr algn="ctr">
              <a:lnSpc>
                <a:spcPts val="5319"/>
              </a:lnSpc>
              <a:spcBef>
                <a:spcPct val="0"/>
              </a:spcBef>
            </a:pPr>
            <a:r>
              <a:rPr lang="en-US" sz="3799">
                <a:solidFill>
                  <a:srgbClr val="FFDE59"/>
                </a:solidFill>
                <a:latin typeface="Celandine"/>
                <a:ea typeface="Celandine"/>
                <a:cs typeface="Celandine"/>
                <a:sym typeface="Celandine"/>
              </a:rPr>
              <a:t>He was the ______ President of India.</a:t>
            </a:r>
          </a:p>
          <a:p>
            <a:pPr algn="ctr">
              <a:lnSpc>
                <a:spcPts val="5319"/>
              </a:lnSpc>
              <a:spcBef>
                <a:spcPct val="0"/>
              </a:spcBef>
            </a:pPr>
            <a:r>
              <a:rPr lang="en-US" sz="3799">
                <a:solidFill>
                  <a:srgbClr val="FFDE59"/>
                </a:solidFill>
                <a:latin typeface="Celandine"/>
                <a:ea typeface="Celandine"/>
                <a:cs typeface="Celandine"/>
                <a:sym typeface="Celandine"/>
              </a:rPr>
              <a:t>→ 11th</a:t>
            </a:r>
          </a:p>
        </p:txBody>
      </p:sp>
      <p:grpSp>
        <p:nvGrpSpPr>
          <p:cNvPr id="13" name="Group 13"/>
          <p:cNvGrpSpPr/>
          <p:nvPr/>
        </p:nvGrpSpPr>
        <p:grpSpPr>
          <a:xfrm>
            <a:off x="6955254" y="3860817"/>
            <a:ext cx="2048390" cy="967151"/>
            <a:chOff x="0" y="0"/>
            <a:chExt cx="539494" cy="254723"/>
          </a:xfrm>
        </p:grpSpPr>
        <p:sp>
          <p:nvSpPr>
            <p:cNvPr id="14" name="Freeform 14"/>
            <p:cNvSpPr/>
            <p:nvPr/>
          </p:nvSpPr>
          <p:spPr>
            <a:xfrm>
              <a:off x="0" y="0"/>
              <a:ext cx="539494" cy="254723"/>
            </a:xfrm>
            <a:custGeom>
              <a:avLst/>
              <a:gdLst/>
              <a:ahLst/>
              <a:cxnLst/>
              <a:rect l="l" t="t" r="r" b="b"/>
              <a:pathLst>
                <a:path w="539494" h="254723">
                  <a:moveTo>
                    <a:pt x="0" y="0"/>
                  </a:moveTo>
                  <a:lnTo>
                    <a:pt x="539494" y="0"/>
                  </a:lnTo>
                  <a:lnTo>
                    <a:pt x="539494" y="254723"/>
                  </a:lnTo>
                  <a:lnTo>
                    <a:pt x="0" y="254723"/>
                  </a:lnTo>
                  <a:close/>
                </a:path>
              </a:pathLst>
            </a:custGeom>
            <a:solidFill>
              <a:srgbClr val="6766E0"/>
            </a:solidFill>
          </p:spPr>
          <p:txBody>
            <a:bodyPr/>
            <a:lstStyle/>
            <a:p>
              <a:endParaRPr lang="en-US"/>
            </a:p>
          </p:txBody>
        </p:sp>
        <p:sp>
          <p:nvSpPr>
            <p:cNvPr id="15" name="TextBox 15"/>
            <p:cNvSpPr txBox="1"/>
            <p:nvPr/>
          </p:nvSpPr>
          <p:spPr>
            <a:xfrm>
              <a:off x="0" y="-38100"/>
              <a:ext cx="539494" cy="292823"/>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3586545" y="4584083"/>
            <a:ext cx="12574309" cy="1313181"/>
          </a:xfrm>
          <a:prstGeom prst="rect">
            <a:avLst/>
          </a:prstGeom>
        </p:spPr>
        <p:txBody>
          <a:bodyPr lIns="0" tIns="0" rIns="0" bIns="0" rtlCol="0" anchor="t">
            <a:spAutoFit/>
          </a:bodyPr>
          <a:lstStyle/>
          <a:p>
            <a:pPr algn="ctr">
              <a:lnSpc>
                <a:spcPts val="5319"/>
              </a:lnSpc>
              <a:spcBef>
                <a:spcPct val="0"/>
              </a:spcBef>
            </a:pPr>
            <a:r>
              <a:rPr lang="en-US" sz="3799">
                <a:solidFill>
                  <a:srgbClr val="FFDE59"/>
                </a:solidFill>
                <a:latin typeface="Celandine"/>
                <a:ea typeface="Celandine"/>
                <a:cs typeface="Celandine"/>
                <a:sym typeface="Celandine"/>
              </a:rPr>
              <a:t>His birthday, October 15, is celebrated as ______ in India.</a:t>
            </a:r>
          </a:p>
          <a:p>
            <a:pPr algn="ctr">
              <a:lnSpc>
                <a:spcPts val="5319"/>
              </a:lnSpc>
              <a:spcBef>
                <a:spcPct val="0"/>
              </a:spcBef>
            </a:pPr>
            <a:r>
              <a:rPr lang="en-US" sz="3799">
                <a:solidFill>
                  <a:srgbClr val="FFDE59"/>
                </a:solidFill>
                <a:latin typeface="Celandine"/>
                <a:ea typeface="Celandine"/>
                <a:cs typeface="Celandine"/>
                <a:sym typeface="Celandine"/>
              </a:rPr>
              <a:t>→ World Students’ Day</a:t>
            </a:r>
          </a:p>
        </p:txBody>
      </p:sp>
      <p:grpSp>
        <p:nvGrpSpPr>
          <p:cNvPr id="17" name="Group 17"/>
          <p:cNvGrpSpPr/>
          <p:nvPr/>
        </p:nvGrpSpPr>
        <p:grpSpPr>
          <a:xfrm>
            <a:off x="7314075" y="5143500"/>
            <a:ext cx="5338505" cy="1946875"/>
            <a:chOff x="0" y="0"/>
            <a:chExt cx="1406026" cy="512757"/>
          </a:xfrm>
        </p:grpSpPr>
        <p:sp>
          <p:nvSpPr>
            <p:cNvPr id="18" name="Freeform 18"/>
            <p:cNvSpPr/>
            <p:nvPr/>
          </p:nvSpPr>
          <p:spPr>
            <a:xfrm>
              <a:off x="0" y="0"/>
              <a:ext cx="1406026" cy="512757"/>
            </a:xfrm>
            <a:custGeom>
              <a:avLst/>
              <a:gdLst/>
              <a:ahLst/>
              <a:cxnLst/>
              <a:rect l="l" t="t" r="r" b="b"/>
              <a:pathLst>
                <a:path w="1406026" h="512757">
                  <a:moveTo>
                    <a:pt x="0" y="0"/>
                  </a:moveTo>
                  <a:lnTo>
                    <a:pt x="1406026" y="0"/>
                  </a:lnTo>
                  <a:lnTo>
                    <a:pt x="1406026" y="512757"/>
                  </a:lnTo>
                  <a:lnTo>
                    <a:pt x="0" y="512757"/>
                  </a:lnTo>
                  <a:close/>
                </a:path>
              </a:pathLst>
            </a:custGeom>
            <a:solidFill>
              <a:srgbClr val="6766E0"/>
            </a:solidFill>
          </p:spPr>
          <p:txBody>
            <a:bodyPr/>
            <a:lstStyle/>
            <a:p>
              <a:endParaRPr lang="en-US"/>
            </a:p>
          </p:txBody>
        </p:sp>
        <p:sp>
          <p:nvSpPr>
            <p:cNvPr id="19" name="TextBox 19"/>
            <p:cNvSpPr txBox="1"/>
            <p:nvPr/>
          </p:nvSpPr>
          <p:spPr>
            <a:xfrm>
              <a:off x="0" y="-38100"/>
              <a:ext cx="1406026" cy="550857"/>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3977237" y="5777193"/>
            <a:ext cx="7908429" cy="1313181"/>
          </a:xfrm>
          <a:prstGeom prst="rect">
            <a:avLst/>
          </a:prstGeom>
        </p:spPr>
        <p:txBody>
          <a:bodyPr lIns="0" tIns="0" rIns="0" bIns="0" rtlCol="0" anchor="t">
            <a:spAutoFit/>
          </a:bodyPr>
          <a:lstStyle/>
          <a:p>
            <a:pPr algn="ctr">
              <a:lnSpc>
                <a:spcPts val="5319"/>
              </a:lnSpc>
              <a:spcBef>
                <a:spcPct val="0"/>
              </a:spcBef>
            </a:pPr>
            <a:r>
              <a:rPr lang="en-US" sz="3799">
                <a:solidFill>
                  <a:srgbClr val="FFDE59"/>
                </a:solidFill>
                <a:latin typeface="Celandine"/>
                <a:ea typeface="Celandine"/>
                <a:cs typeface="Celandine"/>
                <a:sym typeface="Celandine"/>
              </a:rPr>
              <a:t>Kalam joined ISRO in the year ______.</a:t>
            </a:r>
          </a:p>
          <a:p>
            <a:pPr algn="ctr">
              <a:lnSpc>
                <a:spcPts val="5319"/>
              </a:lnSpc>
              <a:spcBef>
                <a:spcPct val="0"/>
              </a:spcBef>
            </a:pPr>
            <a:r>
              <a:rPr lang="en-US" sz="3799">
                <a:solidFill>
                  <a:srgbClr val="FFDE59"/>
                </a:solidFill>
                <a:latin typeface="Celandine"/>
                <a:ea typeface="Celandine"/>
                <a:cs typeface="Celandine"/>
                <a:sym typeface="Celandine"/>
              </a:rPr>
              <a:t>→ 1969</a:t>
            </a:r>
          </a:p>
        </p:txBody>
      </p:sp>
      <p:grpSp>
        <p:nvGrpSpPr>
          <p:cNvPr id="21" name="Group 21"/>
          <p:cNvGrpSpPr/>
          <p:nvPr/>
        </p:nvGrpSpPr>
        <p:grpSpPr>
          <a:xfrm>
            <a:off x="7095610" y="6382681"/>
            <a:ext cx="2048390" cy="1234188"/>
            <a:chOff x="0" y="0"/>
            <a:chExt cx="539494" cy="325054"/>
          </a:xfrm>
        </p:grpSpPr>
        <p:sp>
          <p:nvSpPr>
            <p:cNvPr id="22" name="Freeform 22"/>
            <p:cNvSpPr/>
            <p:nvPr/>
          </p:nvSpPr>
          <p:spPr>
            <a:xfrm>
              <a:off x="0" y="0"/>
              <a:ext cx="539494" cy="325054"/>
            </a:xfrm>
            <a:custGeom>
              <a:avLst/>
              <a:gdLst/>
              <a:ahLst/>
              <a:cxnLst/>
              <a:rect l="l" t="t" r="r" b="b"/>
              <a:pathLst>
                <a:path w="539494" h="325054">
                  <a:moveTo>
                    <a:pt x="0" y="0"/>
                  </a:moveTo>
                  <a:lnTo>
                    <a:pt x="539494" y="0"/>
                  </a:lnTo>
                  <a:lnTo>
                    <a:pt x="539494" y="325054"/>
                  </a:lnTo>
                  <a:lnTo>
                    <a:pt x="0" y="325054"/>
                  </a:lnTo>
                  <a:close/>
                </a:path>
              </a:pathLst>
            </a:custGeom>
            <a:solidFill>
              <a:srgbClr val="6766E0"/>
            </a:solidFill>
          </p:spPr>
          <p:txBody>
            <a:bodyPr/>
            <a:lstStyle/>
            <a:p>
              <a:endParaRPr lang="en-US"/>
            </a:p>
          </p:txBody>
        </p:sp>
        <p:sp>
          <p:nvSpPr>
            <p:cNvPr id="23" name="TextBox 23"/>
            <p:cNvSpPr txBox="1"/>
            <p:nvPr/>
          </p:nvSpPr>
          <p:spPr>
            <a:xfrm>
              <a:off x="0" y="-38100"/>
              <a:ext cx="539494" cy="363154"/>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4036809" y="6922178"/>
            <a:ext cx="5836890" cy="1313181"/>
          </a:xfrm>
          <a:prstGeom prst="rect">
            <a:avLst/>
          </a:prstGeom>
        </p:spPr>
        <p:txBody>
          <a:bodyPr lIns="0" tIns="0" rIns="0" bIns="0" rtlCol="0" anchor="t">
            <a:spAutoFit/>
          </a:bodyPr>
          <a:lstStyle/>
          <a:p>
            <a:pPr algn="ctr">
              <a:lnSpc>
                <a:spcPts val="5319"/>
              </a:lnSpc>
              <a:spcBef>
                <a:spcPct val="0"/>
              </a:spcBef>
            </a:pPr>
            <a:r>
              <a:rPr lang="en-US" sz="3799">
                <a:solidFill>
                  <a:srgbClr val="FFDE59"/>
                </a:solidFill>
                <a:latin typeface="Celandine"/>
                <a:ea typeface="Celandine"/>
                <a:cs typeface="Celandine"/>
                <a:sym typeface="Celandine"/>
              </a:rPr>
              <a:t>Kalam becomes President ?</a:t>
            </a:r>
          </a:p>
          <a:p>
            <a:pPr algn="ctr">
              <a:lnSpc>
                <a:spcPts val="5319"/>
              </a:lnSpc>
              <a:spcBef>
                <a:spcPct val="0"/>
              </a:spcBef>
            </a:pPr>
            <a:r>
              <a:rPr lang="en-US" sz="3799">
                <a:solidFill>
                  <a:srgbClr val="FFDE59"/>
                </a:solidFill>
                <a:latin typeface="Celandine"/>
                <a:ea typeface="Celandine"/>
                <a:cs typeface="Celandine"/>
                <a:sym typeface="Celandine"/>
              </a:rPr>
              <a:t>2002→  </a:t>
            </a:r>
          </a:p>
        </p:txBody>
      </p:sp>
      <p:grpSp>
        <p:nvGrpSpPr>
          <p:cNvPr id="25" name="Group 25"/>
          <p:cNvGrpSpPr/>
          <p:nvPr/>
        </p:nvGrpSpPr>
        <p:grpSpPr>
          <a:xfrm>
            <a:off x="6016287" y="7616868"/>
            <a:ext cx="2595576" cy="1522299"/>
            <a:chOff x="0" y="0"/>
            <a:chExt cx="683609" cy="400935"/>
          </a:xfrm>
        </p:grpSpPr>
        <p:sp>
          <p:nvSpPr>
            <p:cNvPr id="26" name="Freeform 26"/>
            <p:cNvSpPr/>
            <p:nvPr/>
          </p:nvSpPr>
          <p:spPr>
            <a:xfrm>
              <a:off x="0" y="0"/>
              <a:ext cx="683609" cy="400935"/>
            </a:xfrm>
            <a:custGeom>
              <a:avLst/>
              <a:gdLst/>
              <a:ahLst/>
              <a:cxnLst/>
              <a:rect l="l" t="t" r="r" b="b"/>
              <a:pathLst>
                <a:path w="683609" h="400935">
                  <a:moveTo>
                    <a:pt x="0" y="0"/>
                  </a:moveTo>
                  <a:lnTo>
                    <a:pt x="683609" y="0"/>
                  </a:lnTo>
                  <a:lnTo>
                    <a:pt x="683609" y="400935"/>
                  </a:lnTo>
                  <a:lnTo>
                    <a:pt x="0" y="400935"/>
                  </a:lnTo>
                  <a:close/>
                </a:path>
              </a:pathLst>
            </a:custGeom>
            <a:solidFill>
              <a:srgbClr val="6766E0"/>
            </a:solidFill>
          </p:spPr>
          <p:txBody>
            <a:bodyPr/>
            <a:lstStyle/>
            <a:p>
              <a:endParaRPr lang="en-US"/>
            </a:p>
          </p:txBody>
        </p:sp>
        <p:sp>
          <p:nvSpPr>
            <p:cNvPr id="27" name="TextBox 27"/>
            <p:cNvSpPr txBox="1"/>
            <p:nvPr/>
          </p:nvSpPr>
          <p:spPr>
            <a:xfrm>
              <a:off x="0" y="-38100"/>
              <a:ext cx="683609" cy="439035"/>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4025234" y="7845468"/>
            <a:ext cx="7812435" cy="1313181"/>
          </a:xfrm>
          <a:prstGeom prst="rect">
            <a:avLst/>
          </a:prstGeom>
        </p:spPr>
        <p:txBody>
          <a:bodyPr lIns="0" tIns="0" rIns="0" bIns="0" rtlCol="0" anchor="t">
            <a:spAutoFit/>
          </a:bodyPr>
          <a:lstStyle/>
          <a:p>
            <a:pPr algn="ctr">
              <a:lnSpc>
                <a:spcPts val="5319"/>
              </a:lnSpc>
              <a:spcBef>
                <a:spcPct val="0"/>
              </a:spcBef>
            </a:pPr>
            <a:r>
              <a:rPr lang="en-US" sz="3799">
                <a:solidFill>
                  <a:srgbClr val="FFDE59"/>
                </a:solidFill>
                <a:latin typeface="Celandine"/>
                <a:ea typeface="Celandine"/>
                <a:cs typeface="Celandine"/>
                <a:sym typeface="Celandine"/>
              </a:rPr>
              <a:t>India’s first satellite launch (SLV-3) </a:t>
            </a:r>
          </a:p>
          <a:p>
            <a:pPr algn="ctr">
              <a:lnSpc>
                <a:spcPts val="5319"/>
              </a:lnSpc>
              <a:spcBef>
                <a:spcPct val="0"/>
              </a:spcBef>
            </a:pPr>
            <a:r>
              <a:rPr lang="en-US" sz="3799">
                <a:solidFill>
                  <a:srgbClr val="FFDE59"/>
                </a:solidFill>
                <a:latin typeface="Celandine"/>
                <a:ea typeface="Celandine"/>
                <a:cs typeface="Celandine"/>
                <a:sym typeface="Celandine"/>
              </a:rPr>
              <a:t>→ 1980</a:t>
            </a:r>
          </a:p>
        </p:txBody>
      </p:sp>
      <p:grpSp>
        <p:nvGrpSpPr>
          <p:cNvPr id="29" name="Group 29"/>
          <p:cNvGrpSpPr/>
          <p:nvPr/>
        </p:nvGrpSpPr>
        <p:grpSpPr>
          <a:xfrm>
            <a:off x="6907257" y="8540159"/>
            <a:ext cx="2048390" cy="975112"/>
            <a:chOff x="0" y="0"/>
            <a:chExt cx="539494" cy="256820"/>
          </a:xfrm>
        </p:grpSpPr>
        <p:sp>
          <p:nvSpPr>
            <p:cNvPr id="30" name="Freeform 30"/>
            <p:cNvSpPr/>
            <p:nvPr/>
          </p:nvSpPr>
          <p:spPr>
            <a:xfrm>
              <a:off x="0" y="0"/>
              <a:ext cx="539494" cy="256820"/>
            </a:xfrm>
            <a:custGeom>
              <a:avLst/>
              <a:gdLst/>
              <a:ahLst/>
              <a:cxnLst/>
              <a:rect l="l" t="t" r="r" b="b"/>
              <a:pathLst>
                <a:path w="539494" h="256820">
                  <a:moveTo>
                    <a:pt x="0" y="0"/>
                  </a:moveTo>
                  <a:lnTo>
                    <a:pt x="539494" y="0"/>
                  </a:lnTo>
                  <a:lnTo>
                    <a:pt x="539494" y="256820"/>
                  </a:lnTo>
                  <a:lnTo>
                    <a:pt x="0" y="256820"/>
                  </a:lnTo>
                  <a:close/>
                </a:path>
              </a:pathLst>
            </a:custGeom>
            <a:solidFill>
              <a:srgbClr val="6766E0"/>
            </a:solidFill>
          </p:spPr>
          <p:txBody>
            <a:bodyPr/>
            <a:lstStyle/>
            <a:p>
              <a:endParaRPr lang="en-US"/>
            </a:p>
          </p:txBody>
        </p:sp>
        <p:sp>
          <p:nvSpPr>
            <p:cNvPr id="31" name="TextBox 31"/>
            <p:cNvSpPr txBox="1"/>
            <p:nvPr/>
          </p:nvSpPr>
          <p:spPr>
            <a:xfrm>
              <a:off x="0" y="-38100"/>
              <a:ext cx="539494" cy="294920"/>
            </a:xfrm>
            <a:prstGeom prst="rect">
              <a:avLst/>
            </a:prstGeom>
          </p:spPr>
          <p:txBody>
            <a:bodyPr lIns="50800" tIns="50800" rIns="50800" bIns="50800" rtlCol="0" anchor="ctr"/>
            <a:lstStyle/>
            <a:p>
              <a:pPr algn="ctr">
                <a:lnSpc>
                  <a:spcPts val="2659"/>
                </a:lnSpc>
              </a:pPr>
              <a:endParaRPr/>
            </a:p>
          </p:txBody>
        </p:sp>
      </p:gr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a:off x="4505" y="-131938"/>
            <a:ext cx="2048390" cy="10550876"/>
            <a:chOff x="0" y="0"/>
            <a:chExt cx="539494" cy="2778832"/>
          </a:xfrm>
        </p:grpSpPr>
        <p:sp>
          <p:nvSpPr>
            <p:cNvPr id="3" name="Freeform 3"/>
            <p:cNvSpPr/>
            <p:nvPr/>
          </p:nvSpPr>
          <p:spPr>
            <a:xfrm>
              <a:off x="0" y="0"/>
              <a:ext cx="539494" cy="2778832"/>
            </a:xfrm>
            <a:custGeom>
              <a:avLst/>
              <a:gdLst/>
              <a:ahLst/>
              <a:cxnLst/>
              <a:rect l="l" t="t" r="r" b="b"/>
              <a:pathLst>
                <a:path w="539494" h="2778832">
                  <a:moveTo>
                    <a:pt x="0" y="0"/>
                  </a:moveTo>
                  <a:lnTo>
                    <a:pt x="539494" y="0"/>
                  </a:lnTo>
                  <a:lnTo>
                    <a:pt x="539494" y="2778832"/>
                  </a:lnTo>
                  <a:lnTo>
                    <a:pt x="0" y="2778832"/>
                  </a:lnTo>
                  <a:close/>
                </a:path>
              </a:pathLst>
            </a:custGeom>
            <a:solidFill>
              <a:srgbClr val="FFDE59"/>
            </a:solidFill>
          </p:spPr>
          <p:txBody>
            <a:bodyPr/>
            <a:lstStyle/>
            <a:p>
              <a:endParaRPr lang="en-US"/>
            </a:p>
          </p:txBody>
        </p:sp>
        <p:sp>
          <p:nvSpPr>
            <p:cNvPr id="4" name="TextBox 4"/>
            <p:cNvSpPr txBox="1"/>
            <p:nvPr/>
          </p:nvSpPr>
          <p:spPr>
            <a:xfrm>
              <a:off x="0" y="-38100"/>
              <a:ext cx="539494" cy="281693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6235105" y="-131938"/>
            <a:ext cx="2048390" cy="10550876"/>
            <a:chOff x="0" y="0"/>
            <a:chExt cx="539494" cy="2778832"/>
          </a:xfrm>
        </p:grpSpPr>
        <p:sp>
          <p:nvSpPr>
            <p:cNvPr id="6" name="Freeform 6"/>
            <p:cNvSpPr/>
            <p:nvPr/>
          </p:nvSpPr>
          <p:spPr>
            <a:xfrm>
              <a:off x="0" y="0"/>
              <a:ext cx="539494" cy="2778832"/>
            </a:xfrm>
            <a:custGeom>
              <a:avLst/>
              <a:gdLst/>
              <a:ahLst/>
              <a:cxnLst/>
              <a:rect l="l" t="t" r="r" b="b"/>
              <a:pathLst>
                <a:path w="539494" h="2778832">
                  <a:moveTo>
                    <a:pt x="0" y="0"/>
                  </a:moveTo>
                  <a:lnTo>
                    <a:pt x="539494" y="0"/>
                  </a:lnTo>
                  <a:lnTo>
                    <a:pt x="539494" y="2778832"/>
                  </a:lnTo>
                  <a:lnTo>
                    <a:pt x="0" y="2778832"/>
                  </a:lnTo>
                  <a:close/>
                </a:path>
              </a:pathLst>
            </a:custGeom>
            <a:solidFill>
              <a:srgbClr val="FFDE59"/>
            </a:solidFill>
          </p:spPr>
          <p:txBody>
            <a:bodyPr/>
            <a:lstStyle/>
            <a:p>
              <a:endParaRPr lang="en-US"/>
            </a:p>
          </p:txBody>
        </p:sp>
        <p:sp>
          <p:nvSpPr>
            <p:cNvPr id="7" name="TextBox 7"/>
            <p:cNvSpPr txBox="1"/>
            <p:nvPr/>
          </p:nvSpPr>
          <p:spPr>
            <a:xfrm>
              <a:off x="0" y="-38100"/>
              <a:ext cx="539494" cy="2816932"/>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2614320" y="2405153"/>
            <a:ext cx="13311480" cy="3371179"/>
          </a:xfrm>
          <a:prstGeom prst="rect">
            <a:avLst/>
          </a:prstGeom>
        </p:spPr>
        <p:txBody>
          <a:bodyPr wrap="square" lIns="0" tIns="0" rIns="0" bIns="0" rtlCol="0" anchor="t">
            <a:spAutoFit/>
          </a:bodyPr>
          <a:lstStyle/>
          <a:p>
            <a:pPr algn="ctr">
              <a:lnSpc>
                <a:spcPts val="5319"/>
              </a:lnSpc>
              <a:spcBef>
                <a:spcPct val="0"/>
              </a:spcBef>
            </a:pPr>
            <a:r>
              <a:rPr lang="en-US" sz="3799" dirty="0">
                <a:solidFill>
                  <a:srgbClr val="FFDE59"/>
                </a:solidFill>
                <a:latin typeface="Celandine"/>
                <a:ea typeface="Celandine"/>
                <a:cs typeface="Celandine"/>
                <a:sym typeface="Celandine"/>
              </a:rPr>
              <a:t>Kalam’s full name is </a:t>
            </a:r>
            <a:r>
              <a:rPr lang="en-US" sz="3799" dirty="0" err="1">
                <a:solidFill>
                  <a:srgbClr val="FFDE59"/>
                </a:solidFill>
                <a:latin typeface="Celandine"/>
                <a:ea typeface="Celandine"/>
                <a:cs typeface="Celandine"/>
                <a:sym typeface="Celandine"/>
              </a:rPr>
              <a:t>Avul</a:t>
            </a:r>
            <a:r>
              <a:rPr lang="en-US" sz="3799" dirty="0">
                <a:solidFill>
                  <a:srgbClr val="FFDE59"/>
                </a:solidFill>
                <a:latin typeface="Celandine"/>
                <a:ea typeface="Celandine"/>
                <a:cs typeface="Celandine"/>
                <a:sym typeface="Celandine"/>
              </a:rPr>
              <a:t> Pakir </a:t>
            </a:r>
            <a:r>
              <a:rPr lang="en-US" sz="3799" dirty="0" err="1">
                <a:solidFill>
                  <a:srgbClr val="FFDE59"/>
                </a:solidFill>
                <a:latin typeface="Celandine"/>
                <a:ea typeface="Celandine"/>
                <a:cs typeface="Celandine"/>
                <a:sym typeface="Celandine"/>
              </a:rPr>
              <a:t>Jainulabdeen</a:t>
            </a:r>
            <a:r>
              <a:rPr lang="en-US" sz="3799" dirty="0">
                <a:solidFill>
                  <a:srgbClr val="FFDE59"/>
                </a:solidFill>
                <a:latin typeface="Celandine"/>
                <a:ea typeface="Celandine"/>
                <a:cs typeface="Celandine"/>
                <a:sym typeface="Celandine"/>
              </a:rPr>
              <a:t> Abdul Kalam.</a:t>
            </a:r>
          </a:p>
          <a:p>
            <a:pPr algn="ctr">
              <a:lnSpc>
                <a:spcPts val="5319"/>
              </a:lnSpc>
              <a:spcBef>
                <a:spcPct val="0"/>
              </a:spcBef>
            </a:pPr>
            <a:r>
              <a:rPr lang="en-US" sz="3799" dirty="0">
                <a:solidFill>
                  <a:srgbClr val="FFDE59"/>
                </a:solidFill>
                <a:latin typeface="Celandine"/>
                <a:ea typeface="Celandine"/>
                <a:cs typeface="Celandine"/>
                <a:sym typeface="Celandine"/>
              </a:rPr>
              <a:t>He was the 11th President of India.</a:t>
            </a:r>
          </a:p>
          <a:p>
            <a:pPr algn="ctr">
              <a:lnSpc>
                <a:spcPts val="5319"/>
              </a:lnSpc>
              <a:spcBef>
                <a:spcPct val="0"/>
              </a:spcBef>
            </a:pPr>
            <a:r>
              <a:rPr lang="en-US" sz="3799" dirty="0">
                <a:solidFill>
                  <a:srgbClr val="FFDE59"/>
                </a:solidFill>
                <a:latin typeface="Celandine"/>
                <a:ea typeface="Celandine"/>
                <a:cs typeface="Celandine"/>
                <a:sym typeface="Celandine"/>
              </a:rPr>
              <a:t>His birthday, October 15, is celebrated as World Students’ Day in India </a:t>
            </a:r>
          </a:p>
          <a:p>
            <a:pPr algn="ctr">
              <a:lnSpc>
                <a:spcPts val="5319"/>
              </a:lnSpc>
              <a:spcBef>
                <a:spcPct val="0"/>
              </a:spcBef>
            </a:pPr>
            <a:endParaRPr lang="en-US" sz="3799" dirty="0">
              <a:solidFill>
                <a:srgbClr val="FFDE59"/>
              </a:solidFill>
              <a:latin typeface="Celandine"/>
              <a:ea typeface="Celandine"/>
              <a:cs typeface="Celandine"/>
              <a:sym typeface="Celandin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a:off x="16235105" y="-263876"/>
            <a:ext cx="2048390" cy="10550876"/>
            <a:chOff x="0" y="0"/>
            <a:chExt cx="539494" cy="2778832"/>
          </a:xfrm>
        </p:grpSpPr>
        <p:sp>
          <p:nvSpPr>
            <p:cNvPr id="3" name="Freeform 3"/>
            <p:cNvSpPr/>
            <p:nvPr/>
          </p:nvSpPr>
          <p:spPr>
            <a:xfrm>
              <a:off x="0" y="0"/>
              <a:ext cx="539494" cy="2778832"/>
            </a:xfrm>
            <a:custGeom>
              <a:avLst/>
              <a:gdLst/>
              <a:ahLst/>
              <a:cxnLst/>
              <a:rect l="l" t="t" r="r" b="b"/>
              <a:pathLst>
                <a:path w="539494" h="2778832">
                  <a:moveTo>
                    <a:pt x="0" y="0"/>
                  </a:moveTo>
                  <a:lnTo>
                    <a:pt x="539494" y="0"/>
                  </a:lnTo>
                  <a:lnTo>
                    <a:pt x="539494" y="2778832"/>
                  </a:lnTo>
                  <a:lnTo>
                    <a:pt x="0" y="2778832"/>
                  </a:lnTo>
                  <a:close/>
                </a:path>
              </a:pathLst>
            </a:custGeom>
            <a:solidFill>
              <a:srgbClr val="FFDE59"/>
            </a:solidFill>
          </p:spPr>
          <p:txBody>
            <a:bodyPr/>
            <a:lstStyle/>
            <a:p>
              <a:endParaRPr lang="en-US"/>
            </a:p>
          </p:txBody>
        </p:sp>
        <p:sp>
          <p:nvSpPr>
            <p:cNvPr id="4" name="TextBox 4"/>
            <p:cNvSpPr txBox="1"/>
            <p:nvPr/>
          </p:nvSpPr>
          <p:spPr>
            <a:xfrm>
              <a:off x="0" y="-38100"/>
              <a:ext cx="539494" cy="281693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0"/>
            <a:ext cx="1972520" cy="10287000"/>
            <a:chOff x="0" y="0"/>
            <a:chExt cx="519511" cy="2709333"/>
          </a:xfrm>
        </p:grpSpPr>
        <p:sp>
          <p:nvSpPr>
            <p:cNvPr id="6" name="Freeform 6"/>
            <p:cNvSpPr/>
            <p:nvPr/>
          </p:nvSpPr>
          <p:spPr>
            <a:xfrm>
              <a:off x="0" y="0"/>
              <a:ext cx="519511" cy="2709333"/>
            </a:xfrm>
            <a:custGeom>
              <a:avLst/>
              <a:gdLst/>
              <a:ahLst/>
              <a:cxnLst/>
              <a:rect l="l" t="t" r="r" b="b"/>
              <a:pathLst>
                <a:path w="519511" h="2709333">
                  <a:moveTo>
                    <a:pt x="0" y="0"/>
                  </a:moveTo>
                  <a:lnTo>
                    <a:pt x="519511" y="0"/>
                  </a:lnTo>
                  <a:lnTo>
                    <a:pt x="519511" y="2709333"/>
                  </a:lnTo>
                  <a:lnTo>
                    <a:pt x="0" y="2709333"/>
                  </a:lnTo>
                  <a:close/>
                </a:path>
              </a:pathLst>
            </a:custGeom>
            <a:solidFill>
              <a:srgbClr val="FFDE59"/>
            </a:solidFill>
          </p:spPr>
          <p:txBody>
            <a:bodyPr/>
            <a:lstStyle/>
            <a:p>
              <a:endParaRPr lang="en-US"/>
            </a:p>
          </p:txBody>
        </p:sp>
        <p:sp>
          <p:nvSpPr>
            <p:cNvPr id="7" name="TextBox 7"/>
            <p:cNvSpPr txBox="1"/>
            <p:nvPr/>
          </p:nvSpPr>
          <p:spPr>
            <a:xfrm>
              <a:off x="0" y="-38100"/>
              <a:ext cx="519511" cy="2747433"/>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3800254" y="1598658"/>
            <a:ext cx="10687492" cy="7659642"/>
            <a:chOff x="0" y="0"/>
            <a:chExt cx="2814813" cy="2017354"/>
          </a:xfrm>
        </p:grpSpPr>
        <p:sp>
          <p:nvSpPr>
            <p:cNvPr id="9" name="Freeform 9"/>
            <p:cNvSpPr/>
            <p:nvPr/>
          </p:nvSpPr>
          <p:spPr>
            <a:xfrm>
              <a:off x="0" y="0"/>
              <a:ext cx="2814813" cy="2017354"/>
            </a:xfrm>
            <a:custGeom>
              <a:avLst/>
              <a:gdLst/>
              <a:ahLst/>
              <a:cxnLst/>
              <a:rect l="l" t="t" r="r" b="b"/>
              <a:pathLst>
                <a:path w="2814813" h="2017354">
                  <a:moveTo>
                    <a:pt x="31149" y="0"/>
                  </a:moveTo>
                  <a:lnTo>
                    <a:pt x="2783664" y="0"/>
                  </a:lnTo>
                  <a:cubicBezTo>
                    <a:pt x="2791925" y="0"/>
                    <a:pt x="2799848" y="3282"/>
                    <a:pt x="2805689" y="9123"/>
                  </a:cubicBezTo>
                  <a:cubicBezTo>
                    <a:pt x="2811531" y="14965"/>
                    <a:pt x="2814813" y="22888"/>
                    <a:pt x="2814813" y="31149"/>
                  </a:cubicBezTo>
                  <a:lnTo>
                    <a:pt x="2814813" y="1986205"/>
                  </a:lnTo>
                  <a:cubicBezTo>
                    <a:pt x="2814813" y="2003408"/>
                    <a:pt x="2800867" y="2017354"/>
                    <a:pt x="2783664" y="2017354"/>
                  </a:cubicBezTo>
                  <a:lnTo>
                    <a:pt x="31149" y="2017354"/>
                  </a:lnTo>
                  <a:cubicBezTo>
                    <a:pt x="13946" y="2017354"/>
                    <a:pt x="0" y="2003408"/>
                    <a:pt x="0" y="1986205"/>
                  </a:cubicBezTo>
                  <a:lnTo>
                    <a:pt x="0" y="31149"/>
                  </a:lnTo>
                  <a:cubicBezTo>
                    <a:pt x="0" y="13946"/>
                    <a:pt x="13946" y="0"/>
                    <a:pt x="31149" y="0"/>
                  </a:cubicBezTo>
                  <a:close/>
                </a:path>
              </a:pathLst>
            </a:custGeom>
            <a:solidFill>
              <a:srgbClr val="F9FAFB"/>
            </a:solidFill>
            <a:ln w="47625" cap="rnd">
              <a:solidFill>
                <a:srgbClr val="111827"/>
              </a:solidFill>
              <a:prstDash val="solid"/>
              <a:round/>
            </a:ln>
          </p:spPr>
          <p:txBody>
            <a:bodyPr/>
            <a:lstStyle/>
            <a:p>
              <a:endParaRPr lang="en-US"/>
            </a:p>
          </p:txBody>
        </p:sp>
        <p:sp>
          <p:nvSpPr>
            <p:cNvPr id="10" name="TextBox 10"/>
            <p:cNvSpPr txBox="1"/>
            <p:nvPr/>
          </p:nvSpPr>
          <p:spPr>
            <a:xfrm>
              <a:off x="0" y="47625"/>
              <a:ext cx="2814813" cy="1969729"/>
            </a:xfrm>
            <a:prstGeom prst="rect">
              <a:avLst/>
            </a:prstGeom>
          </p:spPr>
          <p:txBody>
            <a:bodyPr lIns="50800" tIns="50800" rIns="50800" bIns="50800" rtlCol="0" anchor="ctr"/>
            <a:lstStyle/>
            <a:p>
              <a:pPr algn="ctr">
                <a:lnSpc>
                  <a:spcPts val="2199"/>
                </a:lnSpc>
              </a:pPr>
              <a:endParaRPr/>
            </a:p>
          </p:txBody>
        </p:sp>
      </p:grpSp>
      <p:sp>
        <p:nvSpPr>
          <p:cNvPr id="11" name="TextBox 11"/>
          <p:cNvSpPr txBox="1"/>
          <p:nvPr/>
        </p:nvSpPr>
        <p:spPr>
          <a:xfrm>
            <a:off x="3839653" y="2638425"/>
            <a:ext cx="10371996" cy="4972050"/>
          </a:xfrm>
          <a:prstGeom prst="rect">
            <a:avLst/>
          </a:prstGeom>
        </p:spPr>
        <p:txBody>
          <a:bodyPr lIns="0" tIns="0" rIns="0" bIns="0" rtlCol="0" anchor="t">
            <a:spAutoFit/>
          </a:bodyPr>
          <a:lstStyle/>
          <a:p>
            <a:pPr marL="790192" lvl="1" indent="-395096" algn="l">
              <a:lnSpc>
                <a:spcPts val="4391"/>
              </a:lnSpc>
              <a:buFont typeface="Arial"/>
              <a:buChar char="•"/>
            </a:pPr>
            <a:r>
              <a:rPr lang="en-US" sz="3659" spc="-146">
                <a:solidFill>
                  <a:srgbClr val="3231C3"/>
                </a:solidFill>
                <a:latin typeface="More Sugar"/>
                <a:ea typeface="More Sugar"/>
                <a:cs typeface="More Sugar"/>
                <a:sym typeface="More Sugar"/>
              </a:rPr>
              <a:t>“Dream, dream, dream. Dreams transform into thoughts, and thoughts result in action.”</a:t>
            </a:r>
          </a:p>
          <a:p>
            <a:pPr marL="790192" lvl="1" indent="-395096" algn="l">
              <a:lnSpc>
                <a:spcPts val="4391"/>
              </a:lnSpc>
              <a:buFont typeface="Arial"/>
              <a:buChar char="•"/>
            </a:pPr>
            <a:r>
              <a:rPr lang="en-US" sz="3659" spc="-146">
                <a:solidFill>
                  <a:srgbClr val="3231C3"/>
                </a:solidFill>
                <a:latin typeface="More Sugar"/>
                <a:ea typeface="More Sugar"/>
                <a:cs typeface="More Sugar"/>
                <a:sym typeface="More Sugar"/>
              </a:rPr>
              <a:t>“You have to dream before your dreams can come true.”</a:t>
            </a:r>
          </a:p>
          <a:p>
            <a:pPr marL="790192" lvl="1" indent="-395096" algn="l">
              <a:lnSpc>
                <a:spcPts val="4391"/>
              </a:lnSpc>
              <a:buFont typeface="Arial"/>
              <a:buChar char="•"/>
            </a:pPr>
            <a:r>
              <a:rPr lang="en-US" sz="3659" spc="-146">
                <a:solidFill>
                  <a:srgbClr val="3231C3"/>
                </a:solidFill>
                <a:latin typeface="More Sugar"/>
                <a:ea typeface="More Sugar"/>
                <a:cs typeface="More Sugar"/>
                <a:sym typeface="More Sugar"/>
              </a:rPr>
              <a:t>“Teaching is a very noble profession that shapes the character, caliber, and future of an individual.”</a:t>
            </a:r>
          </a:p>
          <a:p>
            <a:pPr marL="790192" lvl="1" indent="-395096" algn="l">
              <a:lnSpc>
                <a:spcPts val="4391"/>
              </a:lnSpc>
              <a:buFont typeface="Arial"/>
              <a:buChar char="•"/>
            </a:pPr>
            <a:r>
              <a:rPr lang="en-US" sz="3659" spc="-146">
                <a:solidFill>
                  <a:srgbClr val="3231C3"/>
                </a:solidFill>
                <a:latin typeface="More Sugar"/>
                <a:ea typeface="More Sugar"/>
                <a:cs typeface="More Sugar"/>
                <a:sym typeface="More Sugar"/>
              </a:rPr>
              <a:t>“If you want to shine like a sun, first burn like a sun.”</a:t>
            </a:r>
          </a:p>
        </p:txBody>
      </p:sp>
      <p:sp>
        <p:nvSpPr>
          <p:cNvPr id="12" name="TextBox 12"/>
          <p:cNvSpPr txBox="1"/>
          <p:nvPr/>
        </p:nvSpPr>
        <p:spPr>
          <a:xfrm>
            <a:off x="5732372" y="8253651"/>
            <a:ext cx="6742882" cy="565420"/>
          </a:xfrm>
          <a:prstGeom prst="rect">
            <a:avLst/>
          </a:prstGeom>
        </p:spPr>
        <p:txBody>
          <a:bodyPr lIns="0" tIns="0" rIns="0" bIns="0" rtlCol="0" anchor="t">
            <a:spAutoFit/>
          </a:bodyPr>
          <a:lstStyle/>
          <a:p>
            <a:pPr algn="ctr">
              <a:lnSpc>
                <a:spcPts val="4535"/>
              </a:lnSpc>
              <a:spcBef>
                <a:spcPct val="0"/>
              </a:spcBef>
            </a:pPr>
            <a:r>
              <a:rPr lang="en-US" sz="3239">
                <a:solidFill>
                  <a:srgbClr val="3231C3"/>
                </a:solidFill>
                <a:latin typeface="More Sugar"/>
                <a:ea typeface="More Sugar"/>
                <a:cs typeface="More Sugar"/>
                <a:sym typeface="More Sugar"/>
              </a:rPr>
              <a:t>APJ Abdul Kalam</a:t>
            </a:r>
          </a:p>
        </p:txBody>
      </p:sp>
      <p:grpSp>
        <p:nvGrpSpPr>
          <p:cNvPr id="13" name="Group 13"/>
          <p:cNvGrpSpPr/>
          <p:nvPr/>
        </p:nvGrpSpPr>
        <p:grpSpPr>
          <a:xfrm>
            <a:off x="7751420" y="1028700"/>
            <a:ext cx="2785159" cy="1139917"/>
            <a:chOff x="0" y="0"/>
            <a:chExt cx="446861" cy="182893"/>
          </a:xfrm>
        </p:grpSpPr>
        <p:sp>
          <p:nvSpPr>
            <p:cNvPr id="14" name="Freeform 14"/>
            <p:cNvSpPr/>
            <p:nvPr/>
          </p:nvSpPr>
          <p:spPr>
            <a:xfrm>
              <a:off x="0" y="0"/>
              <a:ext cx="446861" cy="182893"/>
            </a:xfrm>
            <a:custGeom>
              <a:avLst/>
              <a:gdLst/>
              <a:ahLst/>
              <a:cxnLst/>
              <a:rect l="l" t="t" r="r" b="b"/>
              <a:pathLst>
                <a:path w="446861" h="182893">
                  <a:moveTo>
                    <a:pt x="91446" y="0"/>
                  </a:moveTo>
                  <a:lnTo>
                    <a:pt x="355415" y="0"/>
                  </a:lnTo>
                  <a:cubicBezTo>
                    <a:pt x="405920" y="0"/>
                    <a:pt x="446861" y="40942"/>
                    <a:pt x="446861" y="91446"/>
                  </a:cubicBezTo>
                  <a:lnTo>
                    <a:pt x="446861" y="91446"/>
                  </a:lnTo>
                  <a:cubicBezTo>
                    <a:pt x="446861" y="141951"/>
                    <a:pt x="405920" y="182893"/>
                    <a:pt x="355415" y="182893"/>
                  </a:cubicBezTo>
                  <a:lnTo>
                    <a:pt x="91446" y="182893"/>
                  </a:lnTo>
                  <a:cubicBezTo>
                    <a:pt x="40942" y="182893"/>
                    <a:pt x="0" y="141951"/>
                    <a:pt x="0" y="91446"/>
                  </a:cubicBezTo>
                  <a:lnTo>
                    <a:pt x="0" y="91446"/>
                  </a:lnTo>
                  <a:cubicBezTo>
                    <a:pt x="0" y="40942"/>
                    <a:pt x="40942" y="0"/>
                    <a:pt x="91446" y="0"/>
                  </a:cubicBezTo>
                  <a:close/>
                </a:path>
              </a:pathLst>
            </a:custGeom>
            <a:solidFill>
              <a:srgbClr val="111827"/>
            </a:solidFill>
            <a:ln w="47625" cap="rnd">
              <a:solidFill>
                <a:srgbClr val="111827"/>
              </a:solidFill>
              <a:prstDash val="solid"/>
              <a:round/>
            </a:ln>
          </p:spPr>
          <p:txBody>
            <a:bodyPr/>
            <a:lstStyle/>
            <a:p>
              <a:endParaRPr lang="en-US"/>
            </a:p>
          </p:txBody>
        </p:sp>
        <p:sp>
          <p:nvSpPr>
            <p:cNvPr id="15" name="TextBox 15"/>
            <p:cNvSpPr txBox="1"/>
            <p:nvPr/>
          </p:nvSpPr>
          <p:spPr>
            <a:xfrm>
              <a:off x="0" y="0"/>
              <a:ext cx="446861" cy="182893"/>
            </a:xfrm>
            <a:prstGeom prst="rect">
              <a:avLst/>
            </a:prstGeom>
          </p:spPr>
          <p:txBody>
            <a:bodyPr lIns="158578" tIns="158578" rIns="158578" bIns="158578" rtlCol="0" anchor="ctr"/>
            <a:lstStyle/>
            <a:p>
              <a:pPr algn="ctr">
                <a:lnSpc>
                  <a:spcPts val="3600"/>
                </a:lnSpc>
              </a:pPr>
              <a:r>
                <a:rPr lang="en-US" sz="3000" b="1" spc="60">
                  <a:solidFill>
                    <a:srgbClr val="FFFFFF"/>
                  </a:solidFill>
                  <a:latin typeface="Roboto Mono Bold"/>
                  <a:ea typeface="Roboto Mono Bold"/>
                  <a:cs typeface="Roboto Mono Bold"/>
                  <a:sym typeface="Roboto Mono Bold"/>
                </a:rPr>
                <a:t>QUOTES</a:t>
              </a:r>
            </a:p>
          </p:txBody>
        </p:sp>
      </p:grpSp>
      <p:sp>
        <p:nvSpPr>
          <p:cNvPr id="16" name="AutoShape 16"/>
          <p:cNvSpPr/>
          <p:nvPr/>
        </p:nvSpPr>
        <p:spPr>
          <a:xfrm>
            <a:off x="3839653" y="8153400"/>
            <a:ext cx="10639720" cy="0"/>
          </a:xfrm>
          <a:prstGeom prst="line">
            <a:avLst/>
          </a:prstGeom>
          <a:ln w="38100"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a:off x="16235105" y="-263876"/>
            <a:ext cx="2048390" cy="10550876"/>
            <a:chOff x="0" y="0"/>
            <a:chExt cx="539494" cy="2778832"/>
          </a:xfrm>
        </p:grpSpPr>
        <p:sp>
          <p:nvSpPr>
            <p:cNvPr id="3" name="Freeform 3"/>
            <p:cNvSpPr/>
            <p:nvPr/>
          </p:nvSpPr>
          <p:spPr>
            <a:xfrm>
              <a:off x="0" y="0"/>
              <a:ext cx="539494" cy="2778832"/>
            </a:xfrm>
            <a:custGeom>
              <a:avLst/>
              <a:gdLst/>
              <a:ahLst/>
              <a:cxnLst/>
              <a:rect l="l" t="t" r="r" b="b"/>
              <a:pathLst>
                <a:path w="539494" h="2778832">
                  <a:moveTo>
                    <a:pt x="0" y="0"/>
                  </a:moveTo>
                  <a:lnTo>
                    <a:pt x="539494" y="0"/>
                  </a:lnTo>
                  <a:lnTo>
                    <a:pt x="539494" y="2778832"/>
                  </a:lnTo>
                  <a:lnTo>
                    <a:pt x="0" y="2778832"/>
                  </a:lnTo>
                  <a:close/>
                </a:path>
              </a:pathLst>
            </a:custGeom>
            <a:solidFill>
              <a:srgbClr val="FFDE59"/>
            </a:solidFill>
          </p:spPr>
          <p:txBody>
            <a:bodyPr/>
            <a:lstStyle/>
            <a:p>
              <a:endParaRPr lang="en-US"/>
            </a:p>
          </p:txBody>
        </p:sp>
        <p:sp>
          <p:nvSpPr>
            <p:cNvPr id="4" name="TextBox 4"/>
            <p:cNvSpPr txBox="1"/>
            <p:nvPr/>
          </p:nvSpPr>
          <p:spPr>
            <a:xfrm>
              <a:off x="0" y="-38100"/>
              <a:ext cx="539494" cy="281693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0"/>
            <a:ext cx="1972520" cy="10287000"/>
            <a:chOff x="0" y="0"/>
            <a:chExt cx="519511" cy="2709333"/>
          </a:xfrm>
        </p:grpSpPr>
        <p:sp>
          <p:nvSpPr>
            <p:cNvPr id="6" name="Freeform 6"/>
            <p:cNvSpPr/>
            <p:nvPr/>
          </p:nvSpPr>
          <p:spPr>
            <a:xfrm>
              <a:off x="0" y="0"/>
              <a:ext cx="519511" cy="2709333"/>
            </a:xfrm>
            <a:custGeom>
              <a:avLst/>
              <a:gdLst/>
              <a:ahLst/>
              <a:cxnLst/>
              <a:rect l="l" t="t" r="r" b="b"/>
              <a:pathLst>
                <a:path w="519511" h="2709333">
                  <a:moveTo>
                    <a:pt x="0" y="0"/>
                  </a:moveTo>
                  <a:lnTo>
                    <a:pt x="519511" y="0"/>
                  </a:lnTo>
                  <a:lnTo>
                    <a:pt x="519511" y="2709333"/>
                  </a:lnTo>
                  <a:lnTo>
                    <a:pt x="0" y="2709333"/>
                  </a:lnTo>
                  <a:close/>
                </a:path>
              </a:pathLst>
            </a:custGeom>
            <a:solidFill>
              <a:srgbClr val="FFDE59"/>
            </a:solidFill>
          </p:spPr>
          <p:txBody>
            <a:bodyPr/>
            <a:lstStyle/>
            <a:p>
              <a:endParaRPr lang="en-US"/>
            </a:p>
          </p:txBody>
        </p:sp>
        <p:sp>
          <p:nvSpPr>
            <p:cNvPr id="7" name="TextBox 7"/>
            <p:cNvSpPr txBox="1"/>
            <p:nvPr/>
          </p:nvSpPr>
          <p:spPr>
            <a:xfrm>
              <a:off x="0" y="-38100"/>
              <a:ext cx="519511" cy="2747433"/>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2541525" y="3828079"/>
            <a:ext cx="12773246" cy="4023130"/>
            <a:chOff x="0" y="0"/>
            <a:chExt cx="3364147" cy="1059590"/>
          </a:xfrm>
        </p:grpSpPr>
        <p:sp>
          <p:nvSpPr>
            <p:cNvPr id="9" name="Freeform 9"/>
            <p:cNvSpPr/>
            <p:nvPr/>
          </p:nvSpPr>
          <p:spPr>
            <a:xfrm>
              <a:off x="0" y="0"/>
              <a:ext cx="3364147" cy="1059590"/>
            </a:xfrm>
            <a:custGeom>
              <a:avLst/>
              <a:gdLst/>
              <a:ahLst/>
              <a:cxnLst/>
              <a:rect l="l" t="t" r="r" b="b"/>
              <a:pathLst>
                <a:path w="3364147" h="1059590">
                  <a:moveTo>
                    <a:pt x="0" y="0"/>
                  </a:moveTo>
                  <a:lnTo>
                    <a:pt x="3364147" y="0"/>
                  </a:lnTo>
                  <a:lnTo>
                    <a:pt x="3364147" y="1059590"/>
                  </a:lnTo>
                  <a:lnTo>
                    <a:pt x="0" y="1059590"/>
                  </a:lnTo>
                  <a:close/>
                </a:path>
              </a:pathLst>
            </a:custGeom>
            <a:solidFill>
              <a:srgbClr val="FFDE59"/>
            </a:solidFill>
          </p:spPr>
          <p:txBody>
            <a:bodyPr/>
            <a:lstStyle/>
            <a:p>
              <a:endParaRPr lang="en-US"/>
            </a:p>
          </p:txBody>
        </p:sp>
        <p:sp>
          <p:nvSpPr>
            <p:cNvPr id="10" name="TextBox 10"/>
            <p:cNvSpPr txBox="1"/>
            <p:nvPr/>
          </p:nvSpPr>
          <p:spPr>
            <a:xfrm>
              <a:off x="0" y="-38100"/>
              <a:ext cx="3364147" cy="109769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2922043" y="5011562"/>
            <a:ext cx="1398730" cy="997883"/>
          </a:xfrm>
          <a:custGeom>
            <a:avLst/>
            <a:gdLst/>
            <a:ahLst/>
            <a:cxnLst/>
            <a:rect l="l" t="t" r="r" b="b"/>
            <a:pathLst>
              <a:path w="1398730" h="997883">
                <a:moveTo>
                  <a:pt x="0" y="0"/>
                </a:moveTo>
                <a:lnTo>
                  <a:pt x="1398730" y="0"/>
                </a:lnTo>
                <a:lnTo>
                  <a:pt x="1398730" y="997883"/>
                </a:lnTo>
                <a:lnTo>
                  <a:pt x="0" y="997883"/>
                </a:lnTo>
                <a:lnTo>
                  <a:pt x="0" y="0"/>
                </a:lnTo>
                <a:close/>
              </a:path>
            </a:pathLst>
          </a:custGeom>
          <a:blipFill>
            <a:blip r:embed="rId2"/>
            <a:stretch>
              <a:fillRect r="-236209"/>
            </a:stretch>
          </a:blipFill>
        </p:spPr>
        <p:txBody>
          <a:bodyPr/>
          <a:lstStyle/>
          <a:p>
            <a:endParaRPr lang="en-US"/>
          </a:p>
        </p:txBody>
      </p:sp>
      <p:sp>
        <p:nvSpPr>
          <p:cNvPr id="12" name="Freeform 12"/>
          <p:cNvSpPr/>
          <p:nvPr/>
        </p:nvSpPr>
        <p:spPr>
          <a:xfrm>
            <a:off x="9954304" y="4806179"/>
            <a:ext cx="753560" cy="769573"/>
          </a:xfrm>
          <a:custGeom>
            <a:avLst/>
            <a:gdLst/>
            <a:ahLst/>
            <a:cxnLst/>
            <a:rect l="l" t="t" r="r" b="b"/>
            <a:pathLst>
              <a:path w="753560" h="769573">
                <a:moveTo>
                  <a:pt x="0" y="0"/>
                </a:moveTo>
                <a:lnTo>
                  <a:pt x="753560" y="0"/>
                </a:lnTo>
                <a:lnTo>
                  <a:pt x="753560" y="769573"/>
                </a:lnTo>
                <a:lnTo>
                  <a:pt x="0" y="769573"/>
                </a:lnTo>
                <a:lnTo>
                  <a:pt x="0" y="0"/>
                </a:lnTo>
                <a:close/>
              </a:path>
            </a:pathLst>
          </a:custGeom>
          <a:blipFill>
            <a:blip r:embed="rId3"/>
            <a:stretch>
              <a:fillRect/>
            </a:stretch>
          </a:blipFill>
        </p:spPr>
        <p:txBody>
          <a:bodyPr/>
          <a:lstStyle/>
          <a:p>
            <a:endParaRPr lang="en-US"/>
          </a:p>
        </p:txBody>
      </p:sp>
      <p:sp>
        <p:nvSpPr>
          <p:cNvPr id="13" name="Freeform 13"/>
          <p:cNvSpPr/>
          <p:nvPr/>
        </p:nvSpPr>
        <p:spPr>
          <a:xfrm>
            <a:off x="3312476" y="6659754"/>
            <a:ext cx="1114587" cy="1191455"/>
          </a:xfrm>
          <a:custGeom>
            <a:avLst/>
            <a:gdLst/>
            <a:ahLst/>
            <a:cxnLst/>
            <a:rect l="l" t="t" r="r" b="b"/>
            <a:pathLst>
              <a:path w="1114587" h="1191455">
                <a:moveTo>
                  <a:pt x="0" y="0"/>
                </a:moveTo>
                <a:lnTo>
                  <a:pt x="1114586" y="0"/>
                </a:lnTo>
                <a:lnTo>
                  <a:pt x="1114586" y="1191455"/>
                </a:lnTo>
                <a:lnTo>
                  <a:pt x="0" y="11914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Freeform 14"/>
          <p:cNvSpPr/>
          <p:nvPr/>
        </p:nvSpPr>
        <p:spPr>
          <a:xfrm>
            <a:off x="9757321" y="6367614"/>
            <a:ext cx="1147526" cy="1147526"/>
          </a:xfrm>
          <a:custGeom>
            <a:avLst/>
            <a:gdLst/>
            <a:ahLst/>
            <a:cxnLst/>
            <a:rect l="l" t="t" r="r" b="b"/>
            <a:pathLst>
              <a:path w="1147526" h="1147526">
                <a:moveTo>
                  <a:pt x="0" y="0"/>
                </a:moveTo>
                <a:lnTo>
                  <a:pt x="1147526" y="0"/>
                </a:lnTo>
                <a:lnTo>
                  <a:pt x="1147526" y="1147526"/>
                </a:lnTo>
                <a:lnTo>
                  <a:pt x="0" y="1147526"/>
                </a:lnTo>
                <a:lnTo>
                  <a:pt x="0" y="0"/>
                </a:lnTo>
                <a:close/>
              </a:path>
            </a:pathLst>
          </a:custGeom>
          <a:blipFill>
            <a:blip r:embed="rId5"/>
            <a:stretch>
              <a:fillRect/>
            </a:stretch>
          </a:blipFill>
        </p:spPr>
        <p:txBody>
          <a:bodyPr/>
          <a:lstStyle/>
          <a:p>
            <a:endParaRPr lang="en-US"/>
          </a:p>
        </p:txBody>
      </p:sp>
      <p:sp>
        <p:nvSpPr>
          <p:cNvPr id="15" name="TextBox 15"/>
          <p:cNvSpPr txBox="1"/>
          <p:nvPr/>
        </p:nvSpPr>
        <p:spPr>
          <a:xfrm>
            <a:off x="1999734" y="2765481"/>
            <a:ext cx="3146524" cy="1302389"/>
          </a:xfrm>
          <a:prstGeom prst="rect">
            <a:avLst/>
          </a:prstGeom>
        </p:spPr>
        <p:txBody>
          <a:bodyPr lIns="0" tIns="0" rIns="0" bIns="0" rtlCol="0" anchor="t">
            <a:spAutoFit/>
          </a:bodyPr>
          <a:lstStyle/>
          <a:p>
            <a:pPr marL="0" lvl="0" indent="0" algn="ctr">
              <a:lnSpc>
                <a:spcPts val="10639"/>
              </a:lnSpc>
              <a:spcBef>
                <a:spcPct val="0"/>
              </a:spcBef>
            </a:pPr>
            <a:r>
              <a:rPr lang="en-US" sz="7599" dirty="0">
                <a:solidFill>
                  <a:srgbClr val="000000"/>
                </a:solidFill>
                <a:latin typeface="Celandine"/>
                <a:ea typeface="Celandine"/>
                <a:cs typeface="Celandine"/>
                <a:sym typeface="Celandine"/>
              </a:rPr>
              <a:t>Credits</a:t>
            </a:r>
          </a:p>
        </p:txBody>
      </p:sp>
      <p:sp>
        <p:nvSpPr>
          <p:cNvPr id="16" name="TextBox 16"/>
          <p:cNvSpPr txBox="1"/>
          <p:nvPr/>
        </p:nvSpPr>
        <p:spPr>
          <a:xfrm>
            <a:off x="4427062" y="5105241"/>
            <a:ext cx="2118807" cy="648972"/>
          </a:xfrm>
          <a:prstGeom prst="rect">
            <a:avLst/>
          </a:prstGeom>
        </p:spPr>
        <p:txBody>
          <a:bodyPr lIns="0" tIns="0" rIns="0" bIns="0" rtlCol="0" anchor="t">
            <a:spAutoFit/>
          </a:bodyPr>
          <a:lstStyle/>
          <a:p>
            <a:pPr marL="0" lvl="0" indent="0" algn="ctr">
              <a:lnSpc>
                <a:spcPts val="5179"/>
              </a:lnSpc>
              <a:spcBef>
                <a:spcPct val="0"/>
              </a:spcBef>
            </a:pPr>
            <a:r>
              <a:rPr lang="en-US" sz="3699">
                <a:solidFill>
                  <a:srgbClr val="1A171D"/>
                </a:solidFill>
                <a:latin typeface="Obra Letra"/>
                <a:ea typeface="Obra Letra"/>
                <a:cs typeface="Obra Letra"/>
                <a:sym typeface="Obra Letra"/>
              </a:rPr>
              <a:t>Deepseek</a:t>
            </a:r>
          </a:p>
        </p:txBody>
      </p:sp>
      <p:sp>
        <p:nvSpPr>
          <p:cNvPr id="17" name="TextBox 17"/>
          <p:cNvSpPr txBox="1"/>
          <p:nvPr/>
        </p:nvSpPr>
        <p:spPr>
          <a:xfrm>
            <a:off x="10707864" y="4823617"/>
            <a:ext cx="2118807" cy="648972"/>
          </a:xfrm>
          <a:prstGeom prst="rect">
            <a:avLst/>
          </a:prstGeom>
        </p:spPr>
        <p:txBody>
          <a:bodyPr lIns="0" tIns="0" rIns="0" bIns="0" rtlCol="0" anchor="t">
            <a:spAutoFit/>
          </a:bodyPr>
          <a:lstStyle/>
          <a:p>
            <a:pPr marL="0" lvl="0" indent="0" algn="ctr">
              <a:lnSpc>
                <a:spcPts val="5179"/>
              </a:lnSpc>
              <a:spcBef>
                <a:spcPct val="0"/>
              </a:spcBef>
            </a:pPr>
            <a:r>
              <a:rPr lang="en-US" sz="3699">
                <a:solidFill>
                  <a:srgbClr val="1A171D"/>
                </a:solidFill>
                <a:latin typeface="Obra Letra"/>
                <a:ea typeface="Obra Letra"/>
                <a:cs typeface="Obra Letra"/>
                <a:sym typeface="Obra Letra"/>
              </a:rPr>
              <a:t>Google</a:t>
            </a:r>
          </a:p>
        </p:txBody>
      </p:sp>
      <p:sp>
        <p:nvSpPr>
          <p:cNvPr id="18" name="TextBox 18"/>
          <p:cNvSpPr txBox="1"/>
          <p:nvPr/>
        </p:nvSpPr>
        <p:spPr>
          <a:xfrm>
            <a:off x="4672364" y="6888133"/>
            <a:ext cx="2304609" cy="648972"/>
          </a:xfrm>
          <a:prstGeom prst="rect">
            <a:avLst/>
          </a:prstGeom>
        </p:spPr>
        <p:txBody>
          <a:bodyPr lIns="0" tIns="0" rIns="0" bIns="0" rtlCol="0" anchor="t">
            <a:spAutoFit/>
          </a:bodyPr>
          <a:lstStyle/>
          <a:p>
            <a:pPr marL="0" lvl="0" indent="0" algn="ctr">
              <a:lnSpc>
                <a:spcPts val="5179"/>
              </a:lnSpc>
              <a:spcBef>
                <a:spcPct val="0"/>
              </a:spcBef>
            </a:pPr>
            <a:r>
              <a:rPr lang="en-US" sz="3699">
                <a:solidFill>
                  <a:srgbClr val="1A171D"/>
                </a:solidFill>
                <a:latin typeface="Obra Letra"/>
                <a:ea typeface="Obra Letra"/>
                <a:cs typeface="Obra Letra"/>
                <a:sym typeface="Obra Letra"/>
              </a:rPr>
              <a:t>Brandfetch</a:t>
            </a:r>
          </a:p>
        </p:txBody>
      </p:sp>
      <p:sp>
        <p:nvSpPr>
          <p:cNvPr id="19" name="TextBox 19"/>
          <p:cNvSpPr txBox="1"/>
          <p:nvPr/>
        </p:nvSpPr>
        <p:spPr>
          <a:xfrm>
            <a:off x="10857222" y="6866169"/>
            <a:ext cx="2118807" cy="648972"/>
          </a:xfrm>
          <a:prstGeom prst="rect">
            <a:avLst/>
          </a:prstGeom>
        </p:spPr>
        <p:txBody>
          <a:bodyPr lIns="0" tIns="0" rIns="0" bIns="0" rtlCol="0" anchor="t">
            <a:spAutoFit/>
          </a:bodyPr>
          <a:lstStyle/>
          <a:p>
            <a:pPr marL="0" lvl="0" indent="0" algn="ctr">
              <a:lnSpc>
                <a:spcPts val="5179"/>
              </a:lnSpc>
              <a:spcBef>
                <a:spcPct val="0"/>
              </a:spcBef>
            </a:pPr>
            <a:r>
              <a:rPr lang="en-US" sz="3699">
                <a:solidFill>
                  <a:srgbClr val="1A171D"/>
                </a:solidFill>
                <a:latin typeface="Obra Letra"/>
                <a:ea typeface="Obra Letra"/>
                <a:cs typeface="Obra Letra"/>
                <a:sym typeface="Obra Letra"/>
              </a:rPr>
              <a:t>Freepik</a:t>
            </a: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766E0"/>
        </a:solidFill>
        <a:effectLst/>
      </p:bgPr>
    </p:bg>
    <p:spTree>
      <p:nvGrpSpPr>
        <p:cNvPr id="1" name=""/>
        <p:cNvGrpSpPr/>
        <p:nvPr/>
      </p:nvGrpSpPr>
      <p:grpSpPr>
        <a:xfrm>
          <a:off x="0" y="0"/>
          <a:ext cx="0" cy="0"/>
          <a:chOff x="0" y="0"/>
          <a:chExt cx="0" cy="0"/>
        </a:xfrm>
      </p:grpSpPr>
      <p:grpSp>
        <p:nvGrpSpPr>
          <p:cNvPr id="2" name="Group 2"/>
          <p:cNvGrpSpPr/>
          <p:nvPr/>
        </p:nvGrpSpPr>
        <p:grpSpPr>
          <a:xfrm>
            <a:off x="16235105" y="-263876"/>
            <a:ext cx="2048390" cy="10550876"/>
            <a:chOff x="0" y="0"/>
            <a:chExt cx="539494" cy="2778832"/>
          </a:xfrm>
        </p:grpSpPr>
        <p:sp>
          <p:nvSpPr>
            <p:cNvPr id="3" name="Freeform 3"/>
            <p:cNvSpPr/>
            <p:nvPr/>
          </p:nvSpPr>
          <p:spPr>
            <a:xfrm>
              <a:off x="0" y="0"/>
              <a:ext cx="539494" cy="2778832"/>
            </a:xfrm>
            <a:custGeom>
              <a:avLst/>
              <a:gdLst/>
              <a:ahLst/>
              <a:cxnLst/>
              <a:rect l="l" t="t" r="r" b="b"/>
              <a:pathLst>
                <a:path w="539494" h="2778832">
                  <a:moveTo>
                    <a:pt x="0" y="0"/>
                  </a:moveTo>
                  <a:lnTo>
                    <a:pt x="539494" y="0"/>
                  </a:lnTo>
                  <a:lnTo>
                    <a:pt x="539494" y="2778832"/>
                  </a:lnTo>
                  <a:lnTo>
                    <a:pt x="0" y="2778832"/>
                  </a:lnTo>
                  <a:close/>
                </a:path>
              </a:pathLst>
            </a:custGeom>
            <a:solidFill>
              <a:srgbClr val="FFDE59"/>
            </a:solidFill>
          </p:spPr>
          <p:txBody>
            <a:bodyPr/>
            <a:lstStyle/>
            <a:p>
              <a:endParaRPr lang="en-US"/>
            </a:p>
          </p:txBody>
        </p:sp>
        <p:sp>
          <p:nvSpPr>
            <p:cNvPr id="4" name="TextBox 4"/>
            <p:cNvSpPr txBox="1"/>
            <p:nvPr/>
          </p:nvSpPr>
          <p:spPr>
            <a:xfrm>
              <a:off x="0" y="-38100"/>
              <a:ext cx="539494" cy="281693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0"/>
            <a:ext cx="1972520" cy="10287000"/>
            <a:chOff x="0" y="0"/>
            <a:chExt cx="519511" cy="2709333"/>
          </a:xfrm>
        </p:grpSpPr>
        <p:sp>
          <p:nvSpPr>
            <p:cNvPr id="6" name="Freeform 6"/>
            <p:cNvSpPr/>
            <p:nvPr/>
          </p:nvSpPr>
          <p:spPr>
            <a:xfrm>
              <a:off x="0" y="0"/>
              <a:ext cx="519511" cy="2709333"/>
            </a:xfrm>
            <a:custGeom>
              <a:avLst/>
              <a:gdLst/>
              <a:ahLst/>
              <a:cxnLst/>
              <a:rect l="l" t="t" r="r" b="b"/>
              <a:pathLst>
                <a:path w="519511" h="2709333">
                  <a:moveTo>
                    <a:pt x="0" y="0"/>
                  </a:moveTo>
                  <a:lnTo>
                    <a:pt x="519511" y="0"/>
                  </a:lnTo>
                  <a:lnTo>
                    <a:pt x="519511" y="2709333"/>
                  </a:lnTo>
                  <a:lnTo>
                    <a:pt x="0" y="2709333"/>
                  </a:lnTo>
                  <a:close/>
                </a:path>
              </a:pathLst>
            </a:custGeom>
            <a:solidFill>
              <a:srgbClr val="FFDE59"/>
            </a:solidFill>
          </p:spPr>
          <p:txBody>
            <a:bodyPr/>
            <a:lstStyle/>
            <a:p>
              <a:endParaRPr lang="en-US"/>
            </a:p>
          </p:txBody>
        </p:sp>
        <p:sp>
          <p:nvSpPr>
            <p:cNvPr id="7" name="TextBox 7"/>
            <p:cNvSpPr txBox="1"/>
            <p:nvPr/>
          </p:nvSpPr>
          <p:spPr>
            <a:xfrm>
              <a:off x="0" y="-38100"/>
              <a:ext cx="519511" cy="2747433"/>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312596" y="1305354"/>
            <a:ext cx="9582434" cy="7412874"/>
            <a:chOff x="0" y="0"/>
            <a:chExt cx="2523769" cy="1952362"/>
          </a:xfrm>
        </p:grpSpPr>
        <p:sp>
          <p:nvSpPr>
            <p:cNvPr id="9" name="Freeform 9"/>
            <p:cNvSpPr/>
            <p:nvPr/>
          </p:nvSpPr>
          <p:spPr>
            <a:xfrm>
              <a:off x="0" y="0"/>
              <a:ext cx="2523769" cy="1952362"/>
            </a:xfrm>
            <a:custGeom>
              <a:avLst/>
              <a:gdLst/>
              <a:ahLst/>
              <a:cxnLst/>
              <a:rect l="l" t="t" r="r" b="b"/>
              <a:pathLst>
                <a:path w="2523769" h="1952362">
                  <a:moveTo>
                    <a:pt x="0" y="0"/>
                  </a:moveTo>
                  <a:lnTo>
                    <a:pt x="2523769" y="0"/>
                  </a:lnTo>
                  <a:lnTo>
                    <a:pt x="2523769" y="1952362"/>
                  </a:lnTo>
                  <a:lnTo>
                    <a:pt x="0" y="1952362"/>
                  </a:lnTo>
                  <a:close/>
                </a:path>
              </a:pathLst>
            </a:custGeom>
            <a:solidFill>
              <a:srgbClr val="2E266D"/>
            </a:solidFill>
          </p:spPr>
          <p:txBody>
            <a:bodyPr/>
            <a:lstStyle/>
            <a:p>
              <a:endParaRPr lang="en-US"/>
            </a:p>
          </p:txBody>
        </p:sp>
        <p:sp>
          <p:nvSpPr>
            <p:cNvPr id="10" name="TextBox 10"/>
            <p:cNvSpPr txBox="1"/>
            <p:nvPr/>
          </p:nvSpPr>
          <p:spPr>
            <a:xfrm>
              <a:off x="0" y="-38100"/>
              <a:ext cx="2523769" cy="1990462"/>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3838328" y="2095529"/>
            <a:ext cx="10056702" cy="6184491"/>
          </a:xfrm>
          <a:prstGeom prst="rect">
            <a:avLst/>
          </a:prstGeom>
        </p:spPr>
        <p:txBody>
          <a:bodyPr lIns="0" tIns="0" rIns="0" bIns="0" rtlCol="0" anchor="t">
            <a:spAutoFit/>
          </a:bodyPr>
          <a:lstStyle/>
          <a:p>
            <a:pPr algn="ctr">
              <a:lnSpc>
                <a:spcPts val="15907"/>
              </a:lnSpc>
            </a:pPr>
            <a:r>
              <a:rPr lang="en-US" sz="16399">
                <a:solidFill>
                  <a:srgbClr val="3231C3"/>
                </a:solidFill>
                <a:latin typeface="Celandine"/>
                <a:ea typeface="Celandine"/>
                <a:cs typeface="Celandine"/>
                <a:sym typeface="Celandine"/>
              </a:rPr>
              <a:t>Thank  you for listening</a:t>
            </a:r>
          </a:p>
        </p:txBody>
      </p:sp>
    </p:spTree>
  </p:cSld>
  <p:clrMapOvr>
    <a:masterClrMapping/>
  </p:clrMapOvr>
  <p:transition spd="slow">
    <p:push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1139</Words>
  <Application>Microsoft Office PowerPoint</Application>
  <PresentationFormat>Custom</PresentationFormat>
  <Paragraphs>108</Paragraphs>
  <Slides>14</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Obra Letra</vt:lpstr>
      <vt:lpstr>Calibri</vt:lpstr>
      <vt:lpstr>Celandine</vt:lpstr>
      <vt:lpstr>Sprite Graffiti</vt:lpstr>
      <vt:lpstr>Roboto Mono Bold</vt:lpstr>
      <vt:lpstr>More Sugar</vt:lpstr>
      <vt:lpstr>Arial</vt:lpstr>
      <vt:lpstr>Black Ops One</vt:lpstr>
      <vt:lpstr>Bernoru</vt:lpstr>
      <vt:lpstr>League Spartan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APJ Abdul Kalam</dc:title>
  <cp:lastModifiedBy>Vardaan Kulshreshtha</cp:lastModifiedBy>
  <cp:revision>2</cp:revision>
  <dcterms:created xsi:type="dcterms:W3CDTF">2006-08-16T00:00:00Z</dcterms:created>
  <dcterms:modified xsi:type="dcterms:W3CDTF">2026-03-31T14:06:18Z</dcterms:modified>
  <dc:identifier>DAHE7PgLymk</dc:identifier>
</cp:coreProperties>
</file>